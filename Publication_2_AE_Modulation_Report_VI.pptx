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00d9ea309646a3" /><Relationship Type="http://schemas.openxmlformats.org/officeDocument/2006/relationships/extended-properties" Target="/docProps/app.xml" Id="R02314abc81524836" /><Relationship Type="http://schemas.openxmlformats.org/officeDocument/2006/relationships/officeDocument" Target="/ppt/presentation.xml" Id="Rc655fbe7a40243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8da03ceff14b53"/>
  </p:sldMasterIdLst>
  <p:notesMasterIdLst>
    <p:notesMasterId xmlns:r="http://schemas.openxmlformats.org/officeDocument/2006/relationships" r:id="R5ac8145b2b624408"/>
  </p:notesMasterIdLst>
  <p:sldIdLst>
    <p:sldId xmlns:r="http://schemas.openxmlformats.org/officeDocument/2006/relationships" id="256" r:id="R6b8c7bd4f1084ada"/>
    <p:sldId xmlns:r="http://schemas.openxmlformats.org/officeDocument/2006/relationships" id="257" r:id="R40037ae337094e65"/>
    <p:sldId xmlns:r="http://schemas.openxmlformats.org/officeDocument/2006/relationships" id="258" r:id="Rec8bb30eb2394586"/>
    <p:sldId xmlns:r="http://schemas.openxmlformats.org/officeDocument/2006/relationships" id="259" r:id="Rda111a1ed16c4391"/>
    <p:sldId xmlns:r="http://schemas.openxmlformats.org/officeDocument/2006/relationships" id="260" r:id="R179ec45717e84695"/>
    <p:sldId xmlns:r="http://schemas.openxmlformats.org/officeDocument/2006/relationships" id="261" r:id="R9e3e6ad340cd4dd1"/>
    <p:sldId xmlns:r="http://schemas.openxmlformats.org/officeDocument/2006/relationships" id="262" r:id="Raf4312cc16654af5"/>
    <p:sldId xmlns:r="http://schemas.openxmlformats.org/officeDocument/2006/relationships" id="263" r:id="R27de833d8769492b"/>
    <p:sldId xmlns:r="http://schemas.openxmlformats.org/officeDocument/2006/relationships" id="264" r:id="Rda2f6250697146a3"/>
    <p:sldId xmlns:r="http://schemas.openxmlformats.org/officeDocument/2006/relationships" id="265" r:id="R6a1747b54e2344df"/>
    <p:sldId xmlns:r="http://schemas.openxmlformats.org/officeDocument/2006/relationships" id="266" r:id="R1db8ce6f6a4149a2"/>
    <p:sldId xmlns:r="http://schemas.openxmlformats.org/officeDocument/2006/relationships" id="267" r:id="Rc94a67cc7f0b4a5e"/>
    <p:sldId xmlns:r="http://schemas.openxmlformats.org/officeDocument/2006/relationships" id="268" r:id="Ra5f4a9f1a5bc43a6"/>
    <p:sldId xmlns:r="http://schemas.openxmlformats.org/officeDocument/2006/relationships" id="269" r:id="R5bacfa3ce90a4a54"/>
    <p:sldId xmlns:r="http://schemas.openxmlformats.org/officeDocument/2006/relationships" id="270" r:id="R3394572dd3244068"/>
    <p:sldId xmlns:r="http://schemas.openxmlformats.org/officeDocument/2006/relationships" id="271" r:id="R09a13395aba4443e"/>
    <p:sldId xmlns:r="http://schemas.openxmlformats.org/officeDocument/2006/relationships" id="272" r:id="R5bac1b6758ee46f2"/>
    <p:sldId xmlns:r="http://schemas.openxmlformats.org/officeDocument/2006/relationships" id="273" r:id="Rc2c5c327339a40f6"/>
    <p:sldId xmlns:r="http://schemas.openxmlformats.org/officeDocument/2006/relationships" id="274" r:id="Ref312d28496e402c"/>
    <p:sldId xmlns:r="http://schemas.openxmlformats.org/officeDocument/2006/relationships" id="275" r:id="R54b5a0acff894750"/>
    <p:sldId xmlns:r="http://schemas.openxmlformats.org/officeDocument/2006/relationships" id="276" r:id="Rd0fbe1a30ee94ed9"/>
    <p:sldId xmlns:r="http://schemas.openxmlformats.org/officeDocument/2006/relationships" id="277" r:id="R28f1116374334592"/>
    <p:sldId xmlns:r="http://schemas.openxmlformats.org/officeDocument/2006/relationships" id="278" r:id="R741277bc77d14c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da03ceff14b53" /><Relationship Type="http://schemas.openxmlformats.org/officeDocument/2006/relationships/theme" Target="/ppt/theme/theme1.xml" Id="R32ffa76a89224195" /><Relationship Type="http://schemas.openxmlformats.org/officeDocument/2006/relationships/notesMaster" Target="/ppt/notesMasters/notesMaster1.xml" Id="R5ac8145b2b624408" /><Relationship Type="http://schemas.openxmlformats.org/officeDocument/2006/relationships/presProps" Target="/ppt/presProps.xml" Id="Rd6a180df631d4dbf" /><Relationship Type="http://schemas.openxmlformats.org/officeDocument/2006/relationships/viewProps" Target="/ppt/viewProps.xml" Id="R2034dca3955a4c11" /><Relationship Type="http://schemas.openxmlformats.org/officeDocument/2006/relationships/tableStyles" Target="/ppt/tableStyles.xml" Id="R091def9d93c44f07" /><Relationship Type="http://schemas.openxmlformats.org/officeDocument/2006/relationships/slide" Target="/ppt/slides/slide1.xml" Id="R6b8c7bd4f1084ada" /><Relationship Type="http://schemas.openxmlformats.org/officeDocument/2006/relationships/slide" Target="/ppt/slides/slide2.xml" Id="R40037ae337094e65" /><Relationship Type="http://schemas.openxmlformats.org/officeDocument/2006/relationships/slide" Target="/ppt/slides/slide3.xml" Id="Rec8bb30eb2394586" /><Relationship Type="http://schemas.openxmlformats.org/officeDocument/2006/relationships/slide" Target="/ppt/slides/slide4.xml" Id="Rda111a1ed16c4391" /><Relationship Type="http://schemas.openxmlformats.org/officeDocument/2006/relationships/slide" Target="/ppt/slides/slide5.xml" Id="R179ec45717e84695" /><Relationship Type="http://schemas.openxmlformats.org/officeDocument/2006/relationships/slide" Target="/ppt/slides/slide6.xml" Id="R9e3e6ad340cd4dd1" /><Relationship Type="http://schemas.openxmlformats.org/officeDocument/2006/relationships/slide" Target="/ppt/slides/slide7.xml" Id="Raf4312cc16654af5" /><Relationship Type="http://schemas.openxmlformats.org/officeDocument/2006/relationships/slide" Target="/ppt/slides/slide8.xml" Id="R27de833d8769492b" /><Relationship Type="http://schemas.openxmlformats.org/officeDocument/2006/relationships/slide" Target="/ppt/slides/slide9.xml" Id="Rda2f6250697146a3" /><Relationship Type="http://schemas.openxmlformats.org/officeDocument/2006/relationships/slide" Target="/ppt/slides/slide10.xml" Id="R6a1747b54e2344df" /><Relationship Type="http://schemas.openxmlformats.org/officeDocument/2006/relationships/slide" Target="/ppt/slides/slide11.xml" Id="R1db8ce6f6a4149a2" /><Relationship Type="http://schemas.openxmlformats.org/officeDocument/2006/relationships/slide" Target="/ppt/slides/slide12.xml" Id="Rc94a67cc7f0b4a5e" /><Relationship Type="http://schemas.openxmlformats.org/officeDocument/2006/relationships/slide" Target="/ppt/slides/slide13.xml" Id="Ra5f4a9f1a5bc43a6" /><Relationship Type="http://schemas.openxmlformats.org/officeDocument/2006/relationships/slide" Target="/ppt/slides/slide14.xml" Id="R5bacfa3ce90a4a54" /><Relationship Type="http://schemas.openxmlformats.org/officeDocument/2006/relationships/slide" Target="/ppt/slides/slide15.xml" Id="R3394572dd3244068" /><Relationship Type="http://schemas.openxmlformats.org/officeDocument/2006/relationships/slide" Target="/ppt/slides/slide16.xml" Id="R09a13395aba4443e" /><Relationship Type="http://schemas.openxmlformats.org/officeDocument/2006/relationships/slide" Target="/ppt/slides/slide17.xml" Id="R5bac1b6758ee46f2" /><Relationship Type="http://schemas.openxmlformats.org/officeDocument/2006/relationships/slide" Target="/ppt/slides/slide18.xml" Id="Rc2c5c327339a40f6" /><Relationship Type="http://schemas.openxmlformats.org/officeDocument/2006/relationships/slide" Target="/ppt/slides/slide19.xml" Id="Ref312d28496e402c" /><Relationship Type="http://schemas.openxmlformats.org/officeDocument/2006/relationships/slide" Target="/ppt/slides/slide20.xml" Id="R54b5a0acff894750" /><Relationship Type="http://schemas.openxmlformats.org/officeDocument/2006/relationships/slide" Target="/ppt/slides/slide21.xml" Id="Rd0fbe1a30ee94ed9" /><Relationship Type="http://schemas.openxmlformats.org/officeDocument/2006/relationships/slide" Target="/ppt/slides/slide22.xml" Id="R28f1116374334592" /><Relationship Type="http://schemas.openxmlformats.org/officeDocument/2006/relationships/slide" Target="/ppt/slides/slide23.xml" Id="R741277bc77d14c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e4b35b51344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969ed79cd5447d" /><Relationship Type="http://schemas.openxmlformats.org/officeDocument/2006/relationships/notesMaster" Target="/ppt/notesMasters/notesMaster1.xml" Id="Rfef000b2aa4c4c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2d87a02cc842ce" /><Relationship Type="http://schemas.openxmlformats.org/officeDocument/2006/relationships/notesMaster" Target="/ppt/notesMasters/notesMaster1.xml" Id="R62e17324a2b243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fa6e77a809408f" /><Relationship Type="http://schemas.openxmlformats.org/officeDocument/2006/relationships/notesMaster" Target="/ppt/notesMasters/notesMaster1.xml" Id="R11efe39731244c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1c6dfa2f8d48d3" /><Relationship Type="http://schemas.openxmlformats.org/officeDocument/2006/relationships/notesMaster" Target="/ppt/notesMasters/notesMaster1.xml" Id="Rcc73f2d11a184d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e13b0e64294dd9" /><Relationship Type="http://schemas.openxmlformats.org/officeDocument/2006/relationships/notesMaster" Target="/ppt/notesMasters/notesMaster1.xml" Id="R3b5405fdd06d49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67341a58b443d1" /><Relationship Type="http://schemas.openxmlformats.org/officeDocument/2006/relationships/notesMaster" Target="/ppt/notesMasters/notesMaster1.xml" Id="R4b23e9ed245c4a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af82ac3cc0407d" /><Relationship Type="http://schemas.openxmlformats.org/officeDocument/2006/relationships/notesMaster" Target="/ppt/notesMasters/notesMaster1.xml" Id="Rf50cae84433a45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687438cef04704" /><Relationship Type="http://schemas.openxmlformats.org/officeDocument/2006/relationships/notesMaster" Target="/ppt/notesMasters/notesMaster1.xml" Id="Re85f6696109d41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e7a4a9179941dc" /><Relationship Type="http://schemas.openxmlformats.org/officeDocument/2006/relationships/notesMaster" Target="/ppt/notesMasters/notesMaster1.xml" Id="R9ecec96290f54a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c3dc5772554bfd" /><Relationship Type="http://schemas.openxmlformats.org/officeDocument/2006/relationships/notesMaster" Target="/ppt/notesMasters/notesMaster1.xml" Id="R99cdf0c641704d0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afd13d2e8e43c6" /><Relationship Type="http://schemas.openxmlformats.org/officeDocument/2006/relationships/notesMaster" Target="/ppt/notesMasters/notesMaster1.xml" Id="Rc5c9615e061c4d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7b86c810574997" /><Relationship Type="http://schemas.openxmlformats.org/officeDocument/2006/relationships/notesMaster" Target="/ppt/notesMasters/notesMaster1.xml" Id="R073ab33bcefe45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0b6bebb7614d45" /><Relationship Type="http://schemas.openxmlformats.org/officeDocument/2006/relationships/notesMaster" Target="/ppt/notesMasters/notesMaster1.xml" Id="R37f39d8b76b44b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47af288d014fa8" /><Relationship Type="http://schemas.openxmlformats.org/officeDocument/2006/relationships/notesMaster" Target="/ppt/notesMasters/notesMaster1.xml" Id="R77ac19ff1a3147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429ac62ef84b19" /><Relationship Type="http://schemas.openxmlformats.org/officeDocument/2006/relationships/notesMaster" Target="/ppt/notesMasters/notesMaster1.xml" Id="R6f08a9f09a754c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b75011cda64cc3" /><Relationship Type="http://schemas.openxmlformats.org/officeDocument/2006/relationships/notesMaster" Target="/ppt/notesMasters/notesMaster1.xml" Id="R3361b72616be44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7be27d93e2428b" /><Relationship Type="http://schemas.openxmlformats.org/officeDocument/2006/relationships/notesMaster" Target="/ppt/notesMasters/notesMaster1.xml" Id="R35a15992984843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73d468126546d5" /><Relationship Type="http://schemas.openxmlformats.org/officeDocument/2006/relationships/notesMaster" Target="/ppt/notesMasters/notesMaster1.xml" Id="R4c040e4c7dba45c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f5b1a81ea74c3a" /><Relationship Type="http://schemas.openxmlformats.org/officeDocument/2006/relationships/notesMaster" Target="/ppt/notesMasters/notesMaster1.xml" Id="Refe6f4b666c74de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521386aa16c45d0" /><Relationship Type="http://schemas.openxmlformats.org/officeDocument/2006/relationships/notesMaster" Target="/ppt/notesMasters/notesMaster1.xml" Id="R49fdec3e5882406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7c0e4d8eb44d43" /><Relationship Type="http://schemas.openxmlformats.org/officeDocument/2006/relationships/notesMaster" Target="/ppt/notesMasters/notesMaster1.xml" Id="Rd5b0ae581199435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d2368ef38744094" /><Relationship Type="http://schemas.openxmlformats.org/officeDocument/2006/relationships/notesMaster" Target="/ppt/notesMasters/notesMaster1.xml" Id="R9d1d515f9996469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b3d923960f54fce" /><Relationship Type="http://schemas.openxmlformats.org/officeDocument/2006/relationships/notesMaster" Target="/ppt/notesMasters/notesMaster1.xml" Id="R2bc90024c46f4e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7d7c896dee40d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5ee6c20ee544a47" /><Relationship Type="http://schemas.openxmlformats.org/officeDocument/2006/relationships/slideLayout" Target="/ppt/slideLayouts/slideLayout2.xml" Id="Rdf7dc7ff36f842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7dc7ff36f842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c9f1210a34409e" /><Relationship Type="http://schemas.openxmlformats.org/officeDocument/2006/relationships/image" Target="/ppt/media/image.png" Id="Rf6a7d69aa2234d87" /><Relationship Type="http://schemas.openxmlformats.org/officeDocument/2006/relationships/notesSlide" Target="/ppt/notesSlides/notesSlide1.xml" Id="Rfab75b571b0747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7e2704603f42b7" /><Relationship Type="http://schemas.openxmlformats.org/officeDocument/2006/relationships/notesSlide" Target="/ppt/notesSlides/notesSlide2.xml" Id="Rb2c3d78b379f41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b7ee22d532418e" /><Relationship Type="http://schemas.openxmlformats.org/officeDocument/2006/relationships/notesSlide" Target="/ppt/notesSlides/notesSlide3.xml" Id="R44910f6abca440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b2f7e6b41448fd" /><Relationship Type="http://schemas.openxmlformats.org/officeDocument/2006/relationships/notesSlide" Target="/ppt/notesSlides/notesSlide4.xml" Id="R9c38abaef37543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43d9019c794ec9" /><Relationship Type="http://schemas.openxmlformats.org/officeDocument/2006/relationships/image" Target="/ppt/media/image2.png" Id="Rb3cb9cb5b98c4aed" /><Relationship Type="http://schemas.openxmlformats.org/officeDocument/2006/relationships/notesSlide" Target="/ppt/notesSlides/notesSlide5.xml" Id="Rb221094157d140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18ae5f77ce477b" /><Relationship Type="http://schemas.openxmlformats.org/officeDocument/2006/relationships/image" Target="/ppt/media/image3.png" Id="R367aec71af05436c" /><Relationship Type="http://schemas.openxmlformats.org/officeDocument/2006/relationships/image" Target="/ppt/media/image4.png" Id="Rd833ffe63b404037" /><Relationship Type="http://schemas.openxmlformats.org/officeDocument/2006/relationships/notesSlide" Target="/ppt/notesSlides/notesSlide6.xml" Id="R0f9b9eaa51734c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35266ebe4943c9" /><Relationship Type="http://schemas.openxmlformats.org/officeDocument/2006/relationships/image" Target="/ppt/media/image5.png" Id="R8832abb6a8e24c9b" /><Relationship Type="http://schemas.openxmlformats.org/officeDocument/2006/relationships/notesSlide" Target="/ppt/notesSlides/notesSlide7.xml" Id="R05ff4f2dff3142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ec253da5064a7e" /><Relationship Type="http://schemas.openxmlformats.org/officeDocument/2006/relationships/image" Target="/ppt/media/image6.png" Id="Rcdcc2ba039274de8" /><Relationship Type="http://schemas.openxmlformats.org/officeDocument/2006/relationships/notesSlide" Target="/ppt/notesSlides/notesSlide8.xml" Id="Rdb72d3ae5d2e4d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11e9d3ca114552" /><Relationship Type="http://schemas.openxmlformats.org/officeDocument/2006/relationships/image" Target="/ppt/media/image7.png" Id="R1651540edfef43ad" /><Relationship Type="http://schemas.openxmlformats.org/officeDocument/2006/relationships/notesSlide" Target="/ppt/notesSlides/notesSlide9.xml" Id="Re00ec79104fa48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33a75d665f4ee1" /><Relationship Type="http://schemas.openxmlformats.org/officeDocument/2006/relationships/notesSlide" Target="/ppt/notesSlides/notesSlide10.xml" Id="Rd67ea3739fc643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d3fe7239bd47be" /><Relationship Type="http://schemas.openxmlformats.org/officeDocument/2006/relationships/image" Target="/ppt/media/image8.png" Id="Rab0547f6d5bf4c98" /><Relationship Type="http://schemas.openxmlformats.org/officeDocument/2006/relationships/image" Target="/ppt/media/image9.png" Id="R36400e2181784747" /><Relationship Type="http://schemas.openxmlformats.org/officeDocument/2006/relationships/notesSlide" Target="/ppt/notesSlides/notesSlide11.xml" Id="R356ba0c0345348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84ba5f1c67404c" /><Relationship Type="http://schemas.openxmlformats.org/officeDocument/2006/relationships/image" Target="/ppt/media/image10.png" Id="Rcfa565c13df34062" /><Relationship Type="http://schemas.openxmlformats.org/officeDocument/2006/relationships/notesSlide" Target="/ppt/notesSlides/notesSlide12.xml" Id="R6973cec4c4b24d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1a94c9c59f4b1f" /><Relationship Type="http://schemas.openxmlformats.org/officeDocument/2006/relationships/image" Target="/ppt/media/image11.png" Id="R7adbf98a4d24460c" /><Relationship Type="http://schemas.openxmlformats.org/officeDocument/2006/relationships/notesSlide" Target="/ppt/notesSlides/notesSlide13.xml" Id="Rb38822053f9c4e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8e8b44ce684844" /><Relationship Type="http://schemas.openxmlformats.org/officeDocument/2006/relationships/notesSlide" Target="/ppt/notesSlides/notesSlide14.xml" Id="R9ebe74f0b4c74c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828a0271aa47c0" /><Relationship Type="http://schemas.openxmlformats.org/officeDocument/2006/relationships/image" Target="/ppt/media/image12.png" Id="R93dca0fccc6142f2" /><Relationship Type="http://schemas.openxmlformats.org/officeDocument/2006/relationships/notesSlide" Target="/ppt/notesSlides/notesSlide15.xml" Id="Rfbd067d1ef8943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73f6c5ede84718" /><Relationship Type="http://schemas.openxmlformats.org/officeDocument/2006/relationships/image" Target="/ppt/media/image13.png" Id="R66312111d8c64d68" /><Relationship Type="http://schemas.openxmlformats.org/officeDocument/2006/relationships/notesSlide" Target="/ppt/notesSlides/notesSlide16.xml" Id="R374dde30591d4d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db6c30512e48e7" /><Relationship Type="http://schemas.openxmlformats.org/officeDocument/2006/relationships/notesSlide" Target="/ppt/notesSlides/notesSlide17.xml" Id="Rea41ccf4107541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62dd7ebbb84f93" /><Relationship Type="http://schemas.openxmlformats.org/officeDocument/2006/relationships/image" Target="/ppt/media/image14.png" Id="Rb6122818a5184e2b" /><Relationship Type="http://schemas.openxmlformats.org/officeDocument/2006/relationships/notesSlide" Target="/ppt/notesSlides/notesSlide18.xml" Id="Ra289181d2d7a41e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c12a863a544d49" /><Relationship Type="http://schemas.openxmlformats.org/officeDocument/2006/relationships/notesSlide" Target="/ppt/notesSlides/notesSlide19.xml" Id="R5b4e792297144c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b62dfbffd942a7" /><Relationship Type="http://schemas.openxmlformats.org/officeDocument/2006/relationships/notesSlide" Target="/ppt/notesSlides/notesSlide20.xml" Id="R04d39c668fc4419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fa090828e64d2e" /><Relationship Type="http://schemas.openxmlformats.org/officeDocument/2006/relationships/notesSlide" Target="/ppt/notesSlides/notesSlide21.xml" Id="R7a4d67fc6190497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9257498bfe4b52" /><Relationship Type="http://schemas.openxmlformats.org/officeDocument/2006/relationships/notesSlide" Target="/ppt/notesSlides/notesSlide22.xml" Id="Ra0625cb694734c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7e1aa18f72464e" /><Relationship Type="http://schemas.openxmlformats.org/officeDocument/2006/relationships/notesSlide" Target="/ppt/notesSlides/notesSlide23.xml" Id="R21b778e966d146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EFEF98-2B05-4F0F-9897-9E51F021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7d69aa2234d87"/>
          <a:stretch xmlns:a="http://schemas.openxmlformats.org/drawingml/2006/main"/>
        </p:blipFill>
        <p:spPr>
          <a:xfrm xmlns:a="http://schemas.openxmlformats.org/drawingml/2006/main">
            <a:off x="6705600" y="1816340"/>
            <a:ext cx="4724400" cy="139652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7D468-969B-40C6-A355-D4FB716C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42EFB-3A82-4424-AAF4-EEC7BB11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E4E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8E4EC"/>
                </a:solidFill>
                <a:latin typeface="Aptos"/>
                <a:ea typeface="Aptos"/>
                <a:cs typeface="Aptos"/>
              </a:rPr>
              <a:t>Publication_2 | Báo cáo nghiên cứu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6BD38-386C-4800-B88D-B2CF6960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6000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Điều chế thông minh dựa trên AutoEncoder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9EA8B-EC7F-4124-A52D-CE8DAE6D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4E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4E5"/>
                </a:solidFill>
                <a:latin typeface="Aptos"/>
                <a:ea typeface="Aptos"/>
                <a:cs typeface="Aptos"/>
              </a:rPr>
              <a:t>Tối ưu hiệu năng truyền dẫn trên kênh vô tuyến không lý tưởng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EE7A1-A22C-4041-B69B-2E55FB02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47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13A73-D04B-4FEA-BB64-A71DB232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1720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 → Encoder → Channel → Decoder → p(m|y)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C787E-1D13-4E4C-87AB-0E7EFECD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Lai Tiến Đệ | Báo cáo bài báo nghiên cứu</a:t>
            </a:r>
          </a:p>
        </p:txBody>
      </p:sp>
    </p:spTree>
    <p:extLst>
      <p:ext uri="{BB962C8B-B14F-4D97-AF65-F5344CB8AC3E}">
        <p14:creationId xmlns:p14="http://schemas.microsoft.com/office/powerpoint/2010/main" val="5903543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B1B956-FC4F-4B70-B10A-3C5BA2AE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9785F-A847-45A3-B2CC-A1CC9B75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16432-8480-4DE2-9BAA-05253B6D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Bối cảnh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0F070-CB39-4160-AF29-8B44CCC4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Các sai lệch phần cứng và kênh làm suy giảm mạnh thiết kế điều chế cố định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B41C7-D968-4EDB-8B68-819EFBD1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Mô hình tách rời điều chế - kênh - giải điều chế thuận tiện cho phân tích, nhưng không luôn tối ưu khi PA, CFO và fading cùng xuất hiện.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646C2-9C62-43E9-A98F-65AF2387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E1D1C-1A19-4762-9AAF-84370C76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CD7A5-7DEB-4664-AEC2-065E2C5C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667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FCEC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6625C-B0E6-4C81-BD70-70D2C62B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PA phi tuyến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1909B-4399-47BA-981A-33038B56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361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Nén biên độ, xoay pha, méo chòm sao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2F106-C956-4D89-B347-29C81A1F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7A879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879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92B1A-495B-4F57-9836-3A0EDE52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4667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4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D6945-63E2-4781-A542-1AEF31EE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CFO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566E6-0385-4CB6-960E-A0BE8902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361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Pha quay theo thời gian, phá vỡ quyết định symbol độc lập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DC34A-438C-4E43-8473-141619BF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1460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7A879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879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66529-6FEE-4317-97B1-FA39FE14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667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75433-964A-40B0-9AE9-6529EC21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Rayleigh fading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58AD1-66B5-47AE-8A64-C03D7388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361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Suy hao ngẫu nhiên, làm thay đổi phân bố tín hiệu nhận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DD2CC-3EA4-4A2A-9EE4-065C371C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7A879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879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74160-5F54-4ED4-A774-90AD910B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86200"/>
            <a:ext cx="4667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ABB8B-FCB2-44FA-987E-701B5332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Nhiễu AWGN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84344-2B82-4E26-AAC8-8F582EE3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361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Giới hạn xác suất quyết định đúng tại máy thu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DA3FF7-1A3D-4EA7-900E-BF001C7A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33850"/>
            <a:ext cx="552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7A879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A879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0488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1F239-DCCD-4D56-AC26-C03131E0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7865C-EBDB-4B01-B4D1-0F0A5E21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2E90C-BA8B-4ABC-9E69-F7A66781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Khoảng trống nghiên cứu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A86FC-5931-4BC1-89C4-65CC6D06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Cần một cơ chế học thích nghi trực tiếp theo đặc tính kênh và phần cứng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F7F38-6F33-4A69-8A91-108DC984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Bài báo khảo sát khả năng đưa mạng học sâu vào lớp vật lý để học ánh xạ tín hiệu thay vì chỉ hiệu chỉnh sau thu.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EE5A4-9B35-4C27-B65F-522AADFD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15640-5C6D-45B7-9270-A533D59C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1688D-420F-4D0F-91E3-AA993CA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3088B-F189-4A3D-83FE-51EB45CD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FE43F-E9F6-444F-A647-DC48339D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Thiết kế truyền thống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D6F3ED-BF3E-4804-B9F3-466391E1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193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Hướng AE đầu-cuối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60934-12A1-4EB1-A377-16C6150C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ED5769-52B4-4705-8067-8242D890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16-QAM có hình học cố định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EC602-874B-4100-8A64-0638E3DA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2FFED-F3EA-45DA-9FCA-62D2E122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Bộ cân bằng và đồng bộ thường thiết kế theo giả thiết riêng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3A776-9A14-4B31-9BCE-2C883A8E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34FC9-EE2B-4D46-AADC-1795C907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Khi nhiều sai lệch đồng thời xuất hiện, tối ưu từng khối có thể không còn tối ưu toàn cục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7FB7C-6D42-4A75-A4BB-E4BDBD00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86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88937B-00D4-4284-B9A8-4D513C71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AE học chòm sao và luật giải mã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04143-F1A5-4077-A669-DB4B47B5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059F16-59E2-4EC4-B425-1E0F3DEB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385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Kênh được đưa vào vòng huấn luyện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7E585-8A9B-4B3D-AC18-509B7391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7C5D7-4FDA-407D-AECB-3D2A2636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2910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Hàm mất mát có thể gắn ràng buộc công suất và đặc tính PA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23055-40B8-40F1-8A17-B5150997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37719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AA7ABA-4956-44F4-803F-DAB6EA3F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242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1F5E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65983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8054D-397D-4A07-80D3-259BAF6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A9769-5809-43B6-BE29-7708701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AFF2A-8996-452A-9BB5-00CD1795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Ý tưởng chính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6FDDE-1410-4A75-91A3-72D80654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Từ chuỗi truyền thống sang tối ưu đầu-cuối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35540-689E-4DB9-9A39-612D9021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AutoEncoder xem bộ phát, kênh và bộ thu như một hệ thống khả vi, huấn luyện trực tiếp theo xác suất nhận dạng thông điệp.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A43DF-B5C2-4837-A794-AC35CB04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2DFDC-E05E-4AE5-9C4C-46A69038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F0D9B-592C-4B10-BB84-3DD07B66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B7BAA-7AF0-4AF6-8A59-F2CF632C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Thông điệp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47AB4-72F3-47C0-BC0D-041CA962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33147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F7231-E4A0-4CC1-8AAB-B6891A13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67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A6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A86EA-3E0C-4E8E-B361-03FDAFC8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F82F3-3A8B-4A66-817E-5B48713C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04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Encoder θT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517F0-4F4F-457E-9CF2-450C30A9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8650" y="33147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C7415-B3A3-49F5-88E3-6CC9DA2F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67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A6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66E58-A77C-486C-A1EA-7EAB5BE4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956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8C735-7681-4B55-A35D-53B3943B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Kênh h(·)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D1D85-87F9-450F-8623-98222B8C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1300" y="33147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042EC-E129-48CF-90F2-A44E4300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67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A6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2F457-6124-4ED6-89C4-5EAE5381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1BB14-0C31-4FAF-B30B-36537CFC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004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Decoder θR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8F03C3-6423-486A-ADB1-B1038E36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33147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52E52-CF47-4C63-A89A-06D4EE2C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67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A6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4C49F8-2594-4B21-BB98-D4ED9383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95600"/>
            <a:ext cx="1504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1B0BE-645D-4027-B428-044BE1A1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p(m|y)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2BA408-A5F1-4547-80A8-DBEA9BDC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46AC3-911C-4DAD-BBD9-472F2AB2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91050"/>
            <a:ext cx="902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 → one-hot → Encoder θT → x → Channel h(·) → y → Decoder θR → p(m|y)</a:t>
            </a:r>
          </a:p>
        </p:txBody>
      </p:sp>
    </p:spTree>
    <p:extLst>
      <p:ext uri="{BB962C8B-B14F-4D97-AF65-F5344CB8AC3E}">
        <p14:creationId xmlns:p14="http://schemas.microsoft.com/office/powerpoint/2010/main" val="9335956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BABE8-2E84-4955-89D2-BD484B60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4505C-1CFC-4501-B4F8-9A93338D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DB5BF-52BD-4168-AAF4-83A48EB8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Mô hình kênh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D52AA-B26F-4382-A078-8C51C0E0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Ba nguồn không lý tưởng được mô hình hóa trong vòng huấn luyện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FC4EE-8436-477A-93E4-FBF519E4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Các tham số kênh không chỉ là nhiễu mô phỏng; chúng định hình trực tiếp chòm sao học được và luật quyết định tại máy thu.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B10E8-866E-48E5-87C4-B82B5798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116F8-36CE-48DA-B5D5-FDD6ECE9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b9cb5b98c4aed"/>
          <a:stretch xmlns:a="http://schemas.openxmlformats.org/drawingml/2006/main"/>
        </p:blipFill>
        <p:spPr>
          <a:xfrm xmlns:a="http://schemas.openxmlformats.org/drawingml/2006/main">
            <a:off x="6705600" y="2782258"/>
            <a:ext cx="4762500" cy="140778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3B100-F914-40E2-9E48-C35B2628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63995-EAEA-4948-A3DF-0B406AE2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9552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PA Rapp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06DD0-7F0C-4A5C-B37F-1063A145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050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12F"/>
                </a:solidFill>
                <a:latin typeface="Aptos Mono"/>
                <a:ea typeface="Aptos Mono"/>
                <a:cs typeface="Aptos Mono"/>
              </a:rPr>
              <a:t>g(r)= r / [1+(r/Asat)^(2p)]^(1/(2p))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DBE90-D9D2-45F1-8990-AEF38FB7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A663A-59C7-4E45-8E33-EB34F7D4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CFO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7BB8B-B70B-43D2-AD2E-69B27A5D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19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12F"/>
                </a:solidFill>
                <a:latin typeface="Aptos Mono"/>
                <a:ea typeface="Aptos Mono"/>
                <a:cs typeface="Aptos Mono"/>
              </a:rPr>
              <a:t>y[n] = x[n] exp(j2πΔfTs n) + w[n]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48EE7-EF9E-45B3-B6DC-C9DFB906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514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9D5FF-2C3C-478B-BBB6-AAAB1A80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Multipath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00404-6D60-41DD-ADFF-150AF905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338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17212F"/>
                </a:solidFill>
                <a:latin typeface="Aptos Mono"/>
                <a:ea typeface="Aptos Mono"/>
                <a:cs typeface="Aptos Mono"/>
              </a:rPr>
              <a:t>y[n] = Σ_l h[l]x[n-l] + w[n]</a:t>
            </a:r>
          </a:p>
        </p:txBody>
      </p:sp>
    </p:spTree>
    <p:extLst>
      <p:ext uri="{BB962C8B-B14F-4D97-AF65-F5344CB8AC3E}">
        <p14:creationId xmlns:p14="http://schemas.microsoft.com/office/powerpoint/2010/main" val="2405997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FD298A-7BA3-4C69-93D1-89650C6D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CEC2E-08AF-4F86-BB8E-BB00F255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B7893-78F9-4AE2-8B16-D5C96564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Điều chế tham chiếu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75AFE-D067-493B-8D3D-2F018C96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16-QAM dễ bị biến dạng hình học khi đi qua PA phi tuyến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7AC70-E924-4157-A4E5-6ADA0E72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Méo biên độ và pha làm khoảng cách quyết định giữa các điểm tín hiệu trở nên không đồng đều.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981B9-7280-420E-80B5-739F7EFE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7900D-2B19-413A-AB19-42FB99DD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60A9B-2BC4-40D2-8524-89DD5E0E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aec71af05436c"/>
          <a:stretch xmlns:a="http://schemas.openxmlformats.org/drawingml/2006/main"/>
        </p:blipFill>
        <p:spPr>
          <a:xfrm xmlns:a="http://schemas.openxmlformats.org/drawingml/2006/main">
            <a:off x="1972193" y="2381250"/>
            <a:ext cx="2761215" cy="2667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1AD15-925D-4EA3-828B-9BF916A3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05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21034-DBD3-488C-BE61-B0522601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816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Trước 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FE50E-642D-4AC8-8636-0E7F67B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3ffe63b404037"/>
          <a:stretch xmlns:a="http://schemas.openxmlformats.org/drawingml/2006/main"/>
        </p:blipFill>
        <p:spPr>
          <a:xfrm xmlns:a="http://schemas.openxmlformats.org/drawingml/2006/main">
            <a:off x="7432087" y="2381250"/>
            <a:ext cx="2699926" cy="2667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5D45A-BB6C-45CD-9C24-F76266F8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05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FCEC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5DDCF-3637-4230-953C-01EE82F1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816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525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5252"/>
                </a:solidFill>
                <a:latin typeface="Aptos"/>
                <a:ea typeface="Aptos"/>
                <a:cs typeface="Aptos"/>
              </a:rPr>
              <a:t>Sau PA</a:t>
            </a:r>
          </a:p>
        </p:txBody>
      </p:sp>
    </p:spTree>
    <p:extLst>
      <p:ext uri="{BB962C8B-B14F-4D97-AF65-F5344CB8AC3E}">
        <p14:creationId xmlns:p14="http://schemas.microsoft.com/office/powerpoint/2010/main" val="10963281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8375CB-67D4-42EF-A4C2-2A969F0A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43847-164E-47E7-9BB5-3D2926F0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3750E-FE5E-427A-8F3F-C87254CC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Khuếch đại công suất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58DC1-0666-4600-BD29-C726AEBC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Ràng buộc PA đặt ra bài toán tối ưu hình học chòm sao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5BB19-FED6-4799-B45F-F7B66C10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Nếu điểm tín hiệu tiến gần vùng bão hòa, tăng công suất không còn tương ứng với tăng khoảng cách Euclid tại đầu thu.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C0983-0C64-4249-A3C2-2AA8A412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39125-DDAA-4E4D-95FD-5CDD92C5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2abb6a8e24c9b"/>
          <a:stretch xmlns:a="http://schemas.openxmlformats.org/drawingml/2006/main"/>
        </p:blipFill>
        <p:spPr>
          <a:xfrm xmlns:a="http://schemas.openxmlformats.org/drawingml/2006/main">
            <a:off x="685800" y="2801677"/>
            <a:ext cx="5429250" cy="188329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BEBA1-98B7-4B5A-B720-C1526E5F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44885-ABD9-49D3-A3E1-7B4E9936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398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x_norm = x_raw / sqrt(E[||x_raw||²] + ε)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B59F2-D1EC-4363-8F27-FAE86527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E8360-FC65-4529-BC8F-BBCFB39F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398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L_PA = E[max(||x|| - γAsat, 0)²]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BD28D-7D39-49EC-9A79-B1508A6B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053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Thông điệp thiết kế: học chòm sao cần tránh vùng biên độ bị nén mạnh.</a:t>
            </a:r>
          </a:p>
        </p:txBody>
      </p:sp>
    </p:spTree>
    <p:extLst>
      <p:ext uri="{BB962C8B-B14F-4D97-AF65-F5344CB8AC3E}">
        <p14:creationId xmlns:p14="http://schemas.microsoft.com/office/powerpoint/2010/main" val="19238795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EA486D-FBAD-40CB-A999-5E118216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0CDD5-09ED-418B-85F4-CE6A79FF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09A9C-2F1C-48B9-977C-0C9F8CE1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Đồng bộ tần số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4AB3E-313A-40CC-84B5-7F195F83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CFO biến lỗi tần số thành chuyển động pha có cấu trúc theo thời gian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F1DA9-D22F-458B-ADBA-220D3202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Quyết định từng symbol độc lập không khai thác được quy luật quay pha liên tục do CFO gây 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C33CA-BAD2-4295-BDAA-F27BEC86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DDD3A-74DB-44C3-A9E4-45F6873A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c2ba039274de8"/>
          <a:stretch xmlns:a="http://schemas.openxmlformats.org/drawingml/2006/main"/>
        </p:blipFill>
        <p:spPr>
          <a:xfrm xmlns:a="http://schemas.openxmlformats.org/drawingml/2006/main">
            <a:off x="876300" y="2172738"/>
            <a:ext cx="5715000" cy="302687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1B0B2-D8D6-4C15-BDDD-ADD18104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3667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7AD41-9168-4AC1-93F6-0484A208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19400"/>
            <a:ext cx="33623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φ[n] = 2π Δf Ts 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3817D-5F2A-4964-BBEE-C057B1A4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36671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A238D-93B1-4ACE-9DD7-C80951CA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Hệ quả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98C88-2B06-4A5C-B118-44EB8803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2435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Pha không phải lỗi độc lập; nó có cấu trúc tuần tự. Vì vậy mô hình cần quan sát nhiều symbol.</a:t>
            </a:r>
          </a:p>
        </p:txBody>
      </p:sp>
    </p:spTree>
    <p:extLst>
      <p:ext uri="{BB962C8B-B14F-4D97-AF65-F5344CB8AC3E}">
        <p14:creationId xmlns:p14="http://schemas.microsoft.com/office/powerpoint/2010/main" val="9611556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9BF38A-E69C-4598-A37D-87F2DCB5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D4A3E-FD53-410D-A89F-4E4BB6C4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84326-BB44-49E5-850A-7B21C256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Kiến trúc đề xuất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74F33-6F99-420C-8A0E-DC8A57CF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AutoEncoder học đồng thời bộ phát và bộ thu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3BA5D-E0CD-462F-BFF0-1597DA66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Encoder tạo tín hiệu I/Q thỏa ràng buộc công suất; Decoder ước lượng phân bố hậu nghiệm trên tập thông điệp.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82880-FA10-4359-9FBB-9A806483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C5F85-D2CF-4BB7-B02A-D2A3E597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1540edfef43ad"/>
          <a:stretch xmlns:a="http://schemas.openxmlformats.org/drawingml/2006/main"/>
        </p:blipFill>
        <p:spPr>
          <a:xfrm xmlns:a="http://schemas.openxmlformats.org/drawingml/2006/main">
            <a:off x="1295400" y="2177823"/>
            <a:ext cx="7239000" cy="292145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D2039-F8E0-4981-A74F-C17E1407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58456-0E41-402A-84DB-B81DB1B9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One-hot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C07D6-8926-4375-82EE-7C51FA42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626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587A7-F183-4ABF-B929-CE59FDDD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388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9A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9A6C"/>
                </a:solidFill>
                <a:latin typeface="Aptos"/>
                <a:ea typeface="Aptos"/>
                <a:cs typeface="Aptos"/>
              </a:rPr>
              <a:t>Dense encoder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88A0A-5CEA-4421-84D3-01D60074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626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99F70-4013-478A-86F3-2E347B0D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6388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Channel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54C3B-A4A1-4270-9AE9-16D2F558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5626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19B86-2CF8-4AC3-9285-E11A3D05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388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9A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9A6C"/>
                </a:solidFill>
                <a:latin typeface="Aptos"/>
                <a:ea typeface="Aptos"/>
                <a:cs typeface="Aptos"/>
              </a:rPr>
              <a:t>Softmax decoder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A5629-EEE1-4CEF-A8D7-CC73D8AE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626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007D2-0E0B-4C17-BAB9-DA94B83F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388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Cross-entropy loss</a:t>
            </a:r>
          </a:p>
        </p:txBody>
      </p:sp>
    </p:spTree>
    <p:extLst>
      <p:ext uri="{BB962C8B-B14F-4D97-AF65-F5344CB8AC3E}">
        <p14:creationId xmlns:p14="http://schemas.microsoft.com/office/powerpoint/2010/main" val="4719528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5E3D5E-CE03-4A51-AD64-0F95CF03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DFBC5-052C-4366-AA08-ABC3D70F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39534-6164-4D7F-899A-B0902C15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Scenario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13B6D-C823-4894-AEB0-DA5D0D11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Single-symbol AE: học chòm sao chịu PA và fading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C09CB-16AA-4104-B1E8-ACBA9119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Mục tiêu là tối ưu trực tiếp vị trí điểm tín hiệu sao cho sau biến dạng PA và kênh, ranh giới quyết định vẫn tách biệt.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2B6E2-266F-443C-86D5-77955786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E663C-1A34-4825-840F-CC2BA2D6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2C907-A515-40DA-AA05-FD018FA5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60BAB-497C-4041-9DB7-6CAAD1FC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Thông điệp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AD359-72F3-48F5-88ED-E40F4C74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32956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E7BDE-34E6-4E47-BD33-A23A765C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480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1F5E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255D0-6483-4625-9CA5-C7FBFBE5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52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AD0108-8FDC-4627-9CD0-4640AF0E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04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Encoder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787F4-407B-49C7-B357-7157831B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32956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260FC-F438-42DA-A66C-6B15A914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480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1F5E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83CE4-6E96-4A86-97E5-FD4433BD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52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1F80B-6D53-41D0-B060-045319D8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PA + kênh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43E3E-AB74-49DF-82A3-C51D1003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2956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A2A961-2249-4280-A527-189626F8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480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1F5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34A840-875A-4FC7-821E-481398D6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EA8B0-6784-461D-ACC7-DFF344D7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004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Decoder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4CB06-2A74-4F3E-8B86-0A0B1A69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32956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FAE00-6147-4B33-BEBD-03EAA54A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480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1F5E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1DF28-3FB2-44C4-BBB3-70EAAF4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2547C5-96CE-47AF-B630-FE711F1F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004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BER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FE0C25-F534-4C62-932C-D7CADE0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7C48D-3206-42D6-956E-E7DD1BC5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52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9A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9A6C"/>
                </a:solidFill>
                <a:latin typeface="Aptos"/>
                <a:ea typeface="Aptos"/>
                <a:cs typeface="Aptos"/>
              </a:rPr>
              <a:t>M=16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0AE0E6-2AC0-4898-AF63-2BCC633A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76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A0895-3604-4434-9801-50912FF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552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9A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9A6C"/>
                </a:solidFill>
                <a:latin typeface="Aptos"/>
                <a:ea typeface="Aptos"/>
                <a:cs typeface="Aptos"/>
              </a:rPr>
              <a:t>PA Rapp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D04BBF-327B-4C15-B3DF-FEC7EDFA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2828EA-9D2C-4DE8-9FCF-615E9F23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52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9A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9A6C"/>
                </a:solidFill>
                <a:latin typeface="Aptos"/>
                <a:ea typeface="Aptos"/>
                <a:cs typeface="Aptos"/>
              </a:rPr>
              <a:t>Rayleigh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A1091F-D9BE-41F8-8536-E4D6A4F7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76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7677C4-BE0E-4724-BEC0-247CEB6D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529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9A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9A6C"/>
                </a:solidFill>
                <a:latin typeface="Aptos"/>
                <a:ea typeface="Aptos"/>
                <a:cs typeface="Aptos"/>
              </a:rPr>
              <a:t>AWGN</a:t>
            </a:r>
          </a:p>
        </p:txBody>
      </p:sp>
    </p:spTree>
    <p:extLst>
      <p:ext uri="{BB962C8B-B14F-4D97-AF65-F5344CB8AC3E}">
        <p14:creationId xmlns:p14="http://schemas.microsoft.com/office/powerpoint/2010/main" val="13527247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DCB8C8-2B9C-42C9-B720-F69ED08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4460E-8FFA-439E-834D-21C0B495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2699E-29DC-4779-B91F-4D052E9E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Kết quả Scenario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C1AA1-3AB5-479B-A954-CF77AE7C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Chòm sao AE tự điều chỉnh để giảm tác động 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B882A-3057-4CED-B764-A5A49C80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So với 16-QAM cố định, chòm sao học được ưu tiên cấu trúc sau-kênh thay vì hình học vuông lý tưởng.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8CCC6-26DB-48B4-BF48-F623FF01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A66C3-64CA-452B-80AF-72CE19AD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61B58-092F-4322-B849-4CE45797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547f6d5bf4c98"/>
          <a:stretch xmlns:a="http://schemas.openxmlformats.org/drawingml/2006/main"/>
        </p:blipFill>
        <p:spPr>
          <a:xfrm xmlns:a="http://schemas.openxmlformats.org/drawingml/2006/main">
            <a:off x="1922066" y="2381250"/>
            <a:ext cx="2861469" cy="2667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3DE9E8-C631-4074-86F6-9F1F6674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05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142E5-B545-45B8-989F-EA7D5636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816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Chòm sao 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B5119-A555-41D6-81EE-54792D0B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00e2181784747"/>
          <a:stretch xmlns:a="http://schemas.openxmlformats.org/drawingml/2006/main"/>
        </p:blipFill>
        <p:spPr>
          <a:xfrm xmlns:a="http://schemas.openxmlformats.org/drawingml/2006/main">
            <a:off x="6572250" y="2576981"/>
            <a:ext cx="4419600" cy="227553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4912B-0BBA-4311-8BCA-85ECAC3E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054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FCEC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A8F3C-1073-4C51-B8A7-82784EB6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816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6525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5252"/>
                </a:solidFill>
                <a:latin typeface="Aptos"/>
                <a:ea typeface="Aptos"/>
                <a:cs typeface="Aptos"/>
              </a:rPr>
              <a:t>Trước/sau PA</a:t>
            </a:r>
          </a:p>
        </p:txBody>
      </p:sp>
    </p:spTree>
    <p:extLst>
      <p:ext uri="{BB962C8B-B14F-4D97-AF65-F5344CB8AC3E}">
        <p14:creationId xmlns:p14="http://schemas.microsoft.com/office/powerpoint/2010/main" val="94543588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5C5666-B856-4607-83B8-77DF69A8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3A5E1-9ADA-4B4F-B4E3-519C7A23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75E65-4830-4E6F-96D3-F794D7BD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Kết quả Scenario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0F31D-C1E1-40F5-89BD-B8CB4C54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AE đạt lợi ích SNR khoảng 3-4 dB trong điều kiện PA/Rayleigh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ADEF1-BBAA-47BC-87E6-DD9C3C1D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Hiệu năng BER cho thấy tối ưu đầu-cuối tạo lợi thế rõ ràng khi kênh không còn khớp giả thiết tuyến tính.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6EFDF-6986-43E0-B795-C6AAFC1F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80429-CC8A-4376-8D53-E5C2C3D8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CE233-AEAF-4C12-AB46-3A1FF480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723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565c13df34062"/>
          <a:stretch xmlns:a="http://schemas.openxmlformats.org/drawingml/2006/main"/>
        </p:blipFill>
        <p:spPr>
          <a:xfrm xmlns:a="http://schemas.openxmlformats.org/drawingml/2006/main">
            <a:off x="2233698" y="2286000"/>
            <a:ext cx="4371805" cy="3028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857BC-40E6-4EDF-81FF-37134285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4F277-D85A-46F4-A67F-AEA6A96E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Gain báo cáo: ~3-4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B8220-88EA-4C2D-BB7D-5D0BA9D0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57700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Đọc kết quả theo đường BER-SNR: đường cong càng dịch trái, hệ thống càng cần ít SNR hơn để đạt cùng BER.</a:t>
            </a:r>
          </a:p>
        </p:txBody>
      </p:sp>
    </p:spTree>
    <p:extLst>
      <p:ext uri="{BB962C8B-B14F-4D97-AF65-F5344CB8AC3E}">
        <p14:creationId xmlns:p14="http://schemas.microsoft.com/office/powerpoint/2010/main" val="9786144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A2884-6F0A-499F-BBBD-52779A0F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33C43-291E-42A9-9921-89C4011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C7CF3-89E1-4B34-AAF5-7812E73D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Scenario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5A961-CE00-4909-BE87-2CDDB577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Multi-symbol AE: khai thác ngữ cảnh thời gian để bù CFO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13D8A-832D-46C3-ABA2-D3755B91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Thay vì ước lượng CFO bằng khối đồng bộ riêng, mô hình học từ một cửa sổ symbol để suy ra quy luật quay pha.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3B475-F8A7-4477-8CA0-09CC63ED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31D19-B18A-4813-AC15-DCBF5854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bf98a4d24460c"/>
          <a:stretch xmlns:a="http://schemas.openxmlformats.org/drawingml/2006/main"/>
        </p:blipFill>
        <p:spPr>
          <a:xfrm xmlns:a="http://schemas.openxmlformats.org/drawingml/2006/main">
            <a:off x="1180538" y="2095500"/>
            <a:ext cx="5820898" cy="31813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0B4DA-EFCB-4F0C-836F-C74614FB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241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1F21F-F88F-4E55-A378-3300ED50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TimeDistributed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0BB01-4736-427F-9AA9-91E75D97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67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497BC-925E-4BFF-811F-39106403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9A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9A6C"/>
                </a:solidFill>
                <a:latin typeface="Aptos"/>
                <a:ea typeface="Aptos"/>
                <a:cs typeface="Aptos"/>
              </a:rPr>
              <a:t>Symbol 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84343-ABF8-4CDD-BF84-74EFAE19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856C1-35CE-49BF-B587-58A7A7E4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5E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EFF"/>
                </a:solidFill>
                <a:latin typeface="Aptos"/>
                <a:ea typeface="Aptos"/>
                <a:cs typeface="Aptos"/>
              </a:rPr>
              <a:t>Blind CFO compensation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0F3EA-520E-4C76-8876-77E0CCBA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52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EAF7F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1CC04-8433-437B-BC7E-7781504D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9A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9A6C"/>
                </a:solidFill>
                <a:latin typeface="Aptos"/>
                <a:ea typeface="Aptos"/>
                <a:cs typeface="Aptos"/>
              </a:rPr>
              <a:t>No PLL/pilot block</a:t>
            </a:r>
          </a:p>
        </p:txBody>
      </p:sp>
    </p:spTree>
    <p:extLst>
      <p:ext uri="{BB962C8B-B14F-4D97-AF65-F5344CB8AC3E}">
        <p14:creationId xmlns:p14="http://schemas.microsoft.com/office/powerpoint/2010/main" val="3925166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089C01-17D0-443B-AFA3-FD6F71C4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EE3FF-F85A-4959-9D40-91B6960B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7A853-8140-47FD-87A5-AC7390D9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Cơ chế học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87B9A-648C-4512-81C9-B366108A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CFO trở thành một mẫu động học mà mạng có thể học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26463-4416-4201-814E-6B53C5D9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Cửa sổ nhiều symbol cung cấp thông tin về tốc độ quay pha, giúp decoder phân biệt méo CFO với nhiễu ngẫu nhiên.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C7B49-8366-4FAC-8BE2-0D01DCBB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FE7FA-9687-491F-8806-418527CA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CD31A-08B7-4D56-87C9-227D5F71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EBCBA-C1BE-4CD6-8EBB-56F8CCB3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47900"/>
            <a:ext cx="922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Y = {x[n]e^{jφ[n]}};  φ[n+1]-φ[n]=2πΔfTs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3952C-BF3D-464C-8CA9-CCD10F1C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1866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01641-DE95-4653-92E8-E1D81DC0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0D274-986A-4780-9B26-5926A0BF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957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Quan sát chuỗi I/Q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119ED-479E-44E0-8EB0-12B1793B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39624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DD5FE-0F13-48A1-9F0E-4E1A83A4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14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A6B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2B6CC-44A2-40FC-98CD-9F164028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05200"/>
            <a:ext cx="1866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BB525-D7AB-44E1-B7A8-9A67C1C1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FF5960-E56A-4EC1-BCC8-88D34221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957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Suy ra xu hướng pha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3B694-6E79-4B3D-A478-1FCD4DEC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39624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2DB25D-F1D2-41D2-B1B9-CF1C8B88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4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A6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DD6E9-7C7C-493A-A2E2-0147B175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866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FCA4C-9B7E-42DE-B335-4ABEF43D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D17DE5-564F-405A-8E19-88EB9577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Tái căn chỉnh miền đặc trưng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47FAE-BE5B-4CC2-A952-D6A7CFBA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9624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30063-E680-4CEF-97A5-34C0EE49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14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A6B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9A427-6D99-4816-832A-79F6E587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05200"/>
            <a:ext cx="1866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6138A-3ECD-4D4F-AF13-89B37D01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14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D4567B-93FA-4A7A-9877-3F5109A6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009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Ước lượng thông điệp</a:t>
            </a:r>
          </a:p>
        </p:txBody>
      </p:sp>
    </p:spTree>
    <p:extLst>
      <p:ext uri="{BB962C8B-B14F-4D97-AF65-F5344CB8AC3E}">
        <p14:creationId xmlns:p14="http://schemas.microsoft.com/office/powerpoint/2010/main" val="16584554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29F748-B347-487C-BFB4-0CD7D023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4F46F-5FF4-4E7D-837D-2F3A0D7A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C55F7-AE79-4ACC-AFE6-A76FDD4B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Kết quả Scenario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D5D86-2267-4AB7-8D70-C7561189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Tại CFO = 0.005, AE duy trì BER thấp hơn 16-QAM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BDAED-7533-4E87-8696-9479B12D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Khi pha quay chậm nhưng tích lũy, mô hình nhiều-symbol tận dụng tính tương quan thời gian để ổn định quyết định.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D4F48-16C6-42E8-9D40-90C71A2D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1A7E0-A9E5-464A-8C42-9597E17E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B9774-B4D5-4EA4-9F3C-3DE3457A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723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ca0fccc6142f2"/>
          <a:stretch xmlns:a="http://schemas.openxmlformats.org/drawingml/2006/main"/>
        </p:blipFill>
        <p:spPr>
          <a:xfrm xmlns:a="http://schemas.openxmlformats.org/drawingml/2006/main">
            <a:off x="2215498" y="2286000"/>
            <a:ext cx="4408204" cy="3028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F0C3B-63F0-40BF-945C-064396F7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B16BB-CB02-44BD-84F0-E8593B38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CFO = 0.005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1A611-79AA-43F3-A840-587E91A7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57700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Đọc kết quả theo đường BER-SNR: đường cong càng dịch trái, hệ thống càng cần ít SNR hơn để đạt cùng BER.</a:t>
            </a:r>
          </a:p>
        </p:txBody>
      </p:sp>
    </p:spTree>
    <p:extLst>
      <p:ext uri="{BB962C8B-B14F-4D97-AF65-F5344CB8AC3E}">
        <p14:creationId xmlns:p14="http://schemas.microsoft.com/office/powerpoint/2010/main" val="61068534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29F9E8-43D1-453A-B5EC-F67D085B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94A4E-BE67-45B2-8D5B-0F69F71C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53865-A0E4-431F-9355-261FB808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Kết quả Scenario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74BDD-FA8D-45EB-A9D3-F5CACD7C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Tại CFO = 0.01, lợi thế học bù CFO rõ hơn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DA69F-DC3B-4CBC-8ED0-B78C6097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Mức CFO lớn làm suy giảm mạnh bộ thu truyền thống, trong khi AE vẫn học được đặc trưng xoay pha của chuỗi symbol.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96E23-B89E-4F72-A99E-01811E60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B470C-3242-4023-9205-81B26D32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40845-36FA-4DAD-A29F-44A63863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723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12111d8c64d68"/>
          <a:stretch xmlns:a="http://schemas.openxmlformats.org/drawingml/2006/main"/>
        </p:blipFill>
        <p:spPr>
          <a:xfrm xmlns:a="http://schemas.openxmlformats.org/drawingml/2006/main">
            <a:off x="2231692" y="2286000"/>
            <a:ext cx="4375815" cy="3028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7AAC1-E46E-49C1-B875-2E534361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5FA38-D19E-4A32-8B3C-5039F216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Gain báo cáo: ~5-8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B3592-A2D9-4D77-A8AF-7B22836B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57700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Đọc kết quả theo đường BER-SNR: đường cong càng dịch trái, hệ thống càng cần ít SNR hơn để đạt cùng BER.</a:t>
            </a:r>
          </a:p>
        </p:txBody>
      </p:sp>
    </p:spTree>
    <p:extLst>
      <p:ext uri="{BB962C8B-B14F-4D97-AF65-F5344CB8AC3E}">
        <p14:creationId xmlns:p14="http://schemas.microsoft.com/office/powerpoint/2010/main" val="134089858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604F8-DBF8-4193-93BE-908AE71F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F12AE-53DA-4CF9-B388-9BA53865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ADD58-7755-493E-860E-015D5C82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Scenario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5ABE5-4A5B-4D96-8048-34911C16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Neural FEC mở rộng AE từ điều chế sang mã hóa kênh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B68DD-02D8-4E72-B989-BDB7AA66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Thay vì ghép riêng điều chế và mã kênh, mô hình học ánh xạ từ k bit sang N symbol phức để tối ưu xác suất giải mã.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7629F-FEE2-4102-9038-09D43399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BB962-BF01-4AF4-B7CA-492A8992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ADB29-B78D-4D72-B044-E8E91F07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098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5BE85-69D8-4A1B-B162-74E425B4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05050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 = k / (2N)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E9937-EEB7-4714-B4CA-BD5D6426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F60F5-C7EA-4D92-8B4A-BA6631F3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k bit thông tin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4FCFF-F35C-4DD1-AA85-9248B0D1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38385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AFD63-6C08-4278-B145-34BB9C87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90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1F5E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75F61-98D1-4BF6-A1BC-6AA62148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F340F-FD2B-4AF6-9671-350EAC2F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95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Encoder neural FEC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9A69E-E694-4940-8731-2207642A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38385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0F175-3FF2-414E-89D7-D3B8C705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0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1F5E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03F7D-7A9A-49C3-9955-142ACE25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2900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85D49-833E-4824-AA5D-EE5F30AE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95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N symbol I/Q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531DA-CDA7-49DE-85CC-04022935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38385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4F219-E815-492D-A053-1733B6DC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90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1F5E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4F670-B45E-4E5C-B62C-26AB9826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349581-7F8D-4F42-8C08-24956C6A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95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Kênh tổng hợp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ED3495-A0AF-4915-A109-6EBBBDC4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383857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B13C5-E369-4937-AED5-5BDFA4B0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90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1F5E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AD951-13CD-4F52-8A1D-6CC805EC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2900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E0708-3F67-4D4D-8FAE-A1B8402B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95700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Soft decoder</a:t>
            </a:r>
          </a:p>
        </p:txBody>
      </p:sp>
    </p:spTree>
    <p:extLst>
      <p:ext uri="{BB962C8B-B14F-4D97-AF65-F5344CB8AC3E}">
        <p14:creationId xmlns:p14="http://schemas.microsoft.com/office/powerpoint/2010/main" val="56157155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CAF15C-51B3-4111-8C51-B686F908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FDC48-D903-40B3-8D94-7035C00A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42E1F-9B9A-4E67-8D4A-EDF39B01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Kết quả Scenario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68326-AC0E-476F-964B-1DDC4F1F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AE có đặc tính mã hóa kênh đạt BER dưới 10⁻⁴ ở SNR thấp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BD0C1-AE80-4242-80F2-2DBA2771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Kết quả cho thấy tiềm năng của biểu diễn học sâu khi tối ưu đồng thời độ dư, hình học tín hiệu và luật giải mã.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D3A94-17AF-4FE4-8A87-3F156074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F4CAE-9776-4DA1-A892-D24566A1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8C7E7-5ECF-44CB-9706-486EDA72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723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22818a5184e2b"/>
          <a:stretch xmlns:a="http://schemas.openxmlformats.org/drawingml/2006/main"/>
        </p:blipFill>
        <p:spPr>
          <a:xfrm xmlns:a="http://schemas.openxmlformats.org/drawingml/2006/main">
            <a:off x="2009314" y="2286000"/>
            <a:ext cx="4820572" cy="3028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FA924-B50F-4CDD-924C-D3D6045E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670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0AB7E-EF9A-45A9-ADCE-DB7CEFC4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1847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BER &lt; 10⁻⁴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36D72-291F-4D1F-B5DB-C463C87B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57700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Đọc kết quả theo đường BER-SNR: đường cong càng dịch trái, hệ thống càng cần ít SNR hơn để đạt cùng BER.</a:t>
            </a:r>
          </a:p>
        </p:txBody>
      </p:sp>
    </p:spTree>
    <p:extLst>
      <p:ext uri="{BB962C8B-B14F-4D97-AF65-F5344CB8AC3E}">
        <p14:creationId xmlns:p14="http://schemas.microsoft.com/office/powerpoint/2010/main" val="20513582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61878E-F6B2-4566-8143-13A13641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0FEFF-6700-4FCB-AED1-99344AA1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FCB1B-434D-427F-8FCD-1DCCC2EE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Huấn luyện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44A55-26B3-4EF7-8F82-C9422014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Hàm mất mát kết hợp phân loại đúng và ràng buộc vật lý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9091C-A223-4F18-9F89-F73E33A3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Cách huấn luyện hiệu quả phải phản ánh cả mục tiêu thông tin và giới hạn phần cứng.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FDCD3-6673-472F-9131-1F88818F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502CC5-7D90-4D5A-8373-EBD3DD0A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77EDE-AE0A-4C3A-AE3B-B92C3A53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609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8CC12-BB3F-4F4F-BF79-C827A152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579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L_CE = -Σ_m 1{m} log pθ(m|y)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6E77A-341A-47B5-BA64-E3961CCD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609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D0D3F-BE1F-4429-BBCE-8E6FB281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579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L_total = L_CE + λP L_PA + λD max(d_target² - d_min², 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250F1-D9E9-4BA6-BFEC-A3EB74D2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609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AE8ED-0CD3-4C36-9D42-80CF5184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579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d_min = min_{i≠j} ||x_i - x_j||₂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E337C-7B3F-41E0-AC87-48C58AB8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236E7-BE9C-461B-9751-3B796917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Curriculum learning: tăng dần độ khó kênh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1987A-C81F-4075-B286-CD237B85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86736-8CAA-44C2-9367-8E39ED58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Physics-constrained loss: tránh nghiệm tối ưu phi thực tế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65945-339D-496E-9EBA-CFFD2CEA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0A349-3F44-4ED2-8FEE-523C4049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Softmax output: thuận lợi cho hậu xử lý xác suất</a:t>
            </a:r>
          </a:p>
        </p:txBody>
      </p:sp>
    </p:spTree>
    <p:extLst>
      <p:ext uri="{BB962C8B-B14F-4D97-AF65-F5344CB8AC3E}">
        <p14:creationId xmlns:p14="http://schemas.microsoft.com/office/powerpoint/2010/main" val="160765492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752D59-DACB-42ED-9C55-85F356AA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EDED9-58D3-44E5-8C82-22BC308E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7B4E5-C88D-4482-858D-51A5DE88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Liên kết với giải mã kênh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77E76-9CD1-4A95-87D5-BF2993D7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Đầu ra xác suất của AE có thể chuyển thành LLR mềm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F201E-CB31-49CA-88AD-976C448E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Đây là điểm nối quan trọng nếu muốn ghép AE modulation với LDPC/Turbo/BICM-ID ở các nghiên cứu tiếp theo.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F600B-7402-4BEF-85A6-10CC9251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5A81A-7607-4BE4-8E4F-ADA2FDAA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A4322-947E-400F-9BE4-D85F8BFA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0363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4C17F-7B6D-4105-804C-521EB65C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005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L(b_i)= ln [Σ_{m:b_i=1} P(s_m|y) / Σ_{m:b_i=0} P(s_m|y)]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914B1-88C1-4AB6-95A9-9682ADF3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AE7F0-665F-4EB4-8CAB-F22D1894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Softmax p(m|y)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98C61-15F0-40B8-AC6C-C3C1912F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41529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A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47C3F-B445-46BD-95DF-0E0BB72B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052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9A6C"/>
          </a:solidFill>
          <a:ln xmlns:a="http://schemas.openxmlformats.org/drawingml/2006/main" w="0">
            <a:solidFill>
              <a:srgbClr val="1D9A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7D1C9-90B6-4C8C-8574-1044E645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909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7CB59-8315-4E34-A4DE-EDE734DB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386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Bit marginalization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3554F-6960-43AD-95BA-A6682B6F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41529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A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CFECC-A7B6-484A-B4ED-E3E78903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052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9A6C"/>
          </a:solidFill>
          <a:ln xmlns:a="http://schemas.openxmlformats.org/drawingml/2006/main" w="0">
            <a:solidFill>
              <a:srgbClr val="1D9A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88E63-3910-47B7-B1BB-B76B39F2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909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A2D8F-29D9-46E3-B5FF-C29DD6E7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386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LLR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1CDF3-692B-4D44-8F5B-66D1EC22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41529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A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418F4-D133-4676-B453-635E251F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052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9A6C"/>
          </a:solidFill>
          <a:ln xmlns:a="http://schemas.openxmlformats.org/drawingml/2006/main" w="0">
            <a:solidFill>
              <a:srgbClr val="1D9A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82FDA-C50A-4B33-AD32-0E451CF2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909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8892E-0DF2-4481-BD63-4B0F2A83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386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Channel decoder</a:t>
            </a:r>
          </a:p>
        </p:txBody>
      </p:sp>
    </p:spTree>
    <p:extLst>
      <p:ext uri="{BB962C8B-B14F-4D97-AF65-F5344CB8AC3E}">
        <p14:creationId xmlns:p14="http://schemas.microsoft.com/office/powerpoint/2010/main" val="155908913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5CE897-E919-4447-8362-D7846C15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2CCA3-E0A9-4352-A1B3-06FF2C04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24022-C697-40AA-83A3-47A718B4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Tổng hợp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D40E0-088B-4FFA-91C6-87A842B3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Ba kịch bản cho thấy các vai trò khác nhau của học sâu ở lớp vật lý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68BB9-D34C-4802-8A83-89FD9D10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Giá trị khoa học nằm ở việc kiểm chứng từng giả thuyết: học hình học chòm sao, học động học CFO, và học dư thừa mã hóa.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DE1D8-A57D-4812-A95F-3263F873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1A705-6CAE-4810-AE70-5930055A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3E948-A468-4115-8077-27986FC7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FF6E0-D51B-431D-89D5-0A214203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Kịch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BA047-F6BA-49EB-99C6-3DB29049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907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F296A-B534-4A3C-A7CC-CA6BCE4A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2410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Mô hình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ABB63-C312-4E29-993F-2818F2A3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907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4B3A7-10FF-4EFF-A618-90D0B89A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241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 lệch chính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357E1-27D2-49A8-803A-6E36506A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6099E-CDD2-4117-9457-C286DC07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241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Kết quả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C9244-7D4C-4DCF-9D38-A4A3E03B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90750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AECB2-6BAA-461C-9AF8-A3DF1B2E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24100"/>
            <a:ext cx="2609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Ý nghĩa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5E09F-BAB3-4D91-AAC4-AEEDD3A2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FE465-7A15-4385-9EB0-0CD01B2B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0DD2A-3DCB-4B5B-8BAE-8AEE17A0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479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70E81-7DA2-422F-BC0A-EFE1FF10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Single-symbol AE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2FFF1-83ED-418A-8943-9BC78533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9FBAA2-24EB-4C57-9689-DAFFBD26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PA + Rayleigh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43A8E-AA1D-494A-9DF9-85275A99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00AB5-2132-4C51-AB30-49664539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194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~3-4 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240FEB-3FF7-4DF2-B504-3017CACA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276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D64BE-C71C-42EA-86D8-79F47747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Điều chỉnh chòm sao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F8BCD9-0227-46F1-A8B6-F5735382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1095F0-5848-462B-8FA6-C7DABEEC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C1B85A-8CCB-47F4-870C-9E3257D3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4FA5D7-D3AE-417E-8E85-E46BCDE4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Multi-symbol AE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E5D5DD-9EBC-4F94-92DA-039E1479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147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72C1E0-4B57-4BFC-B4DF-D3199713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CFO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61F792-4296-491D-8F9E-F619D730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7436AB-CE3B-4EEC-89ED-FF36AB5A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~5-8 dB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2FFC3F-DE71-4AB5-95A2-DA972DD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14700"/>
            <a:ext cx="276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CF2F8F-2ECF-4F3F-972C-34AEA925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Bù pha mù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E7545C-3232-4840-A677-0EFBFF4C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457B9F-F31D-4CD7-A023-F7FA8439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BB159C-6004-4A7D-9A13-4900E808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6906C0-D7B4-491D-8250-CB8AE467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Neural FEC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9BAC5F-A8FA-4DF3-848D-F5C89B9B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814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DFFECD-0408-4C5C-B104-BCBA2D73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5290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Kênh tổng hợp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EF6CD2-ED33-472A-9AEE-8F703211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814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0DE15E-AF09-4216-A06F-716EC968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52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BER &lt; 10⁻⁴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B66810-F398-4B21-9852-5007AE7E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81450"/>
            <a:ext cx="276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2ADF63-DDFA-4542-A47D-57D5BD49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529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Mã hóa + điều chế</a:t>
            </a:r>
          </a:p>
        </p:txBody>
      </p:sp>
    </p:spTree>
    <p:extLst>
      <p:ext uri="{BB962C8B-B14F-4D97-AF65-F5344CB8AC3E}">
        <p14:creationId xmlns:p14="http://schemas.microsoft.com/office/powerpoint/2010/main" val="30777424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494D84-8495-42CF-A619-A7753A07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3CFEA-E80C-4BB9-938D-DC9BF30C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849B7-947B-45D5-905F-445EDDA9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6B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6B4"/>
                </a:solidFill>
                <a:latin typeface="Aptos"/>
                <a:ea typeface="Aptos"/>
                <a:cs typeface="Aptos"/>
              </a:rPr>
              <a:t>Thảo luận học thuật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B7ECF-C026-42D3-95DF-7ACBE22D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334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Kết quả tích cực nhưng vẫn cần đánh giá trên hệ thống truyền thông đầy đủ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51C92-F9AF-4018-97DC-AC40F290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Bài báo chứng minh tiềm năng ở mức mô phỏng; để tiến tới ứng dụng cần kiểm chứng tính tổng quát, độ phức tạp và khả năng tích hợp.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CA9CA-6778-4649-9179-04C9B12F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F872B-EBA8-4E42-8BB7-D9194694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B96A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B96A6"/>
                </a:solidFill>
                <a:latin typeface="Aptos"/>
                <a:ea typeface="Aptos"/>
                <a:cs typeface="Aptos"/>
              </a:rPr>
              <a:t>Publication_2 | AutoEncoder-based modulation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5B4ED-EB5D-45E9-AC27-BC1197F5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E05CA-C433-46EF-A6F1-B69B90BD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Độ bền khi phân bố kênh thực khác tập huấn luyện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82146-72F3-430D-8F70-D951902B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31220-E164-40E1-A0E4-114F87A7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Chi phí tính toán và độ trễ tại thiết bị thu/phát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98828E-86A1-4801-8944-FB67418E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C7C4C-26FA-461A-B379-9F998FA1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052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Khả năng sinh LLR ổn định cho decoder ngoài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0919A-BAAA-4E3E-9C62-20E2CB47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0ADD1-17D9-430E-BF5F-1132AFE6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F"/>
                </a:solidFill>
                <a:latin typeface="Aptos"/>
                <a:ea typeface="Aptos"/>
                <a:cs typeface="Aptos"/>
              </a:rPr>
              <a:t>Tích hợp vào BICM-ID/OFDM/SDR còn là hướng tiếp theo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C31ED-094B-4217-A6E9-3ED5054C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FFF4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3ADB3-6E15-423B-8A11-6E0BADF4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91100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F"/>
                </a:solidFill>
                <a:latin typeface="Aptos"/>
                <a:ea typeface="Aptos"/>
                <a:cs typeface="Aptos"/>
              </a:rPr>
              <a:t>Không kết luận quá mức</a:t>
            </a:r>
          </a:p>
        </p:txBody>
      </p:sp>
    </p:spTree>
    <p:extLst>
      <p:ext uri="{BB962C8B-B14F-4D97-AF65-F5344CB8AC3E}">
        <p14:creationId xmlns:p14="http://schemas.microsoft.com/office/powerpoint/2010/main" val="153388189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998962-759C-4A03-8C7B-64633221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B24FD-6DA9-4518-BC59-782DF0C9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E4E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8E4EC"/>
                </a:solidFill>
                <a:latin typeface="Aptos"/>
                <a:ea typeface="Aptos"/>
                <a:cs typeface="Aptos"/>
              </a:rPr>
              <a:t>Kết luận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BD46A-82B5-42C5-8E3F-A472E616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AutoEncoder là hướng tiếp cận có cơ sở cho điều chế thích nghi trên kênh không lý tưởng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05C67-A46C-4D6F-98F4-97E59A2D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4E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4E5"/>
                </a:solidFill>
                <a:latin typeface="Aptos"/>
                <a:ea typeface="Aptos"/>
                <a:cs typeface="Aptos"/>
              </a:rPr>
              <a:t>Publication_2 cung cấp bằng chứng thực nghiệm rằng học sâu có thể cải thiện chất lượng truyền dẫn khi được ràng buộc bởi mô hình vật lý.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F892F-4F8D-435F-A250-E7063457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2724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D45"/>
          </a:solidFill>
          <a:ln xmlns:a="http://schemas.openxmlformats.org/drawingml/2006/main" w="9525">
            <a:solidFill>
              <a:srgbClr val="214E6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88465-B97D-4142-9D78-0034B476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Tối ưu đầu-cuối giúp vượt qua giới hạn của chòm sao cố định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5BC72-5044-4B5D-A65D-06B66AA0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14800"/>
            <a:ext cx="2724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D52"/>
          </a:solidFill>
          <a:ln xmlns:a="http://schemas.openxmlformats.org/drawingml/2006/main" w="9525">
            <a:solidFill>
              <a:srgbClr val="214E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BA096-BB4D-4B3F-869C-7BB7BD03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Ngữ cảnh thời gian là chìa khóa cho CFO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2B203-7997-4DCE-8773-BF696E34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14800"/>
            <a:ext cx="2724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D45"/>
          </a:solidFill>
          <a:ln xmlns:a="http://schemas.openxmlformats.org/drawingml/2006/main" w="9525">
            <a:solidFill>
              <a:srgbClr val="214E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71BCD-C3E9-4FE5-9BDE-1E70B516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815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Neural FEC mở đường cho tối ưu chung điều chế - mã kênh</a:t>
            </a:r>
          </a:p>
        </p:txBody>
      </p:sp>
    </p:spTree>
    <p:extLst>
      <p:ext uri="{BB962C8B-B14F-4D97-AF65-F5344CB8AC3E}">
        <p14:creationId xmlns:p14="http://schemas.microsoft.com/office/powerpoint/2010/main" val="8601753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2026-05-13T09:04:56.2580000Z</dcterms:created>
  <dcterms:modified xsi:type="dcterms:W3CDTF">2026-05-13T09:04:56.2580000Z</dcterms:modified>
</coreProperties>
</file>