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71b79632f4916" /><Relationship Type="http://schemas.openxmlformats.org/officeDocument/2006/relationships/extended-properties" Target="/docProps/app.xml" Id="Ra9ec664ee7f44e59" /><Relationship Type="http://schemas.openxmlformats.org/officeDocument/2006/relationships/officeDocument" Target="/ppt/presentation.xml" Id="R5dd4043a315a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a13aa342b49c3"/>
  </p:sldMasterIdLst>
  <p:notesMasterIdLst>
    <p:notesMasterId xmlns:r="http://schemas.openxmlformats.org/officeDocument/2006/relationships" r:id="Radae787fc9994f25"/>
  </p:notesMasterIdLst>
  <p:sldIdLst>
    <p:sldId xmlns:r="http://schemas.openxmlformats.org/officeDocument/2006/relationships" id="256" r:id="Rde622ffe3e854baa"/>
    <p:sldId xmlns:r="http://schemas.openxmlformats.org/officeDocument/2006/relationships" id="257" r:id="R0b4289cb9ab448e7"/>
    <p:sldId xmlns:r="http://schemas.openxmlformats.org/officeDocument/2006/relationships" id="258" r:id="R583c0065a15f462b"/>
    <p:sldId xmlns:r="http://schemas.openxmlformats.org/officeDocument/2006/relationships" id="259" r:id="R4ef8db263fef4bcf"/>
    <p:sldId xmlns:r="http://schemas.openxmlformats.org/officeDocument/2006/relationships" id="260" r:id="R21281ae405434f6a"/>
    <p:sldId xmlns:r="http://schemas.openxmlformats.org/officeDocument/2006/relationships" id="261" r:id="R1dbabf7bc09241c9"/>
    <p:sldId xmlns:r="http://schemas.openxmlformats.org/officeDocument/2006/relationships" id="262" r:id="R93313780253c4b29"/>
    <p:sldId xmlns:r="http://schemas.openxmlformats.org/officeDocument/2006/relationships" id="263" r:id="R8f073748f28b4e29"/>
    <p:sldId xmlns:r="http://schemas.openxmlformats.org/officeDocument/2006/relationships" id="264" r:id="Ra7dae953b7a34ac1"/>
    <p:sldId xmlns:r="http://schemas.openxmlformats.org/officeDocument/2006/relationships" id="265" r:id="Ra4200f3cd7994925"/>
    <p:sldId xmlns:r="http://schemas.openxmlformats.org/officeDocument/2006/relationships" id="266" r:id="R8fcf7f1ae4f74b32"/>
    <p:sldId xmlns:r="http://schemas.openxmlformats.org/officeDocument/2006/relationships" id="267" r:id="R99337e5176af4d28"/>
    <p:sldId xmlns:r="http://schemas.openxmlformats.org/officeDocument/2006/relationships" id="268" r:id="Rbab81ea308e94183"/>
    <p:sldId xmlns:r="http://schemas.openxmlformats.org/officeDocument/2006/relationships" id="269" r:id="R10e64dec9ef8438a"/>
    <p:sldId xmlns:r="http://schemas.openxmlformats.org/officeDocument/2006/relationships" id="270" r:id="Rd18ed075ae0b4871"/>
    <p:sldId xmlns:r="http://schemas.openxmlformats.org/officeDocument/2006/relationships" id="271" r:id="R42d809b2aeb940d4"/>
    <p:sldId xmlns:r="http://schemas.openxmlformats.org/officeDocument/2006/relationships" id="272" r:id="Rb816d65d579f4258"/>
    <p:sldId xmlns:r="http://schemas.openxmlformats.org/officeDocument/2006/relationships" id="273" r:id="Rd291d4a12deb4f0b"/>
    <p:sldId xmlns:r="http://schemas.openxmlformats.org/officeDocument/2006/relationships" id="274" r:id="R035c936f77cd464f"/>
    <p:sldId xmlns:r="http://schemas.openxmlformats.org/officeDocument/2006/relationships" id="275" r:id="R9441b1ffe14c4a7f"/>
    <p:sldId xmlns:r="http://schemas.openxmlformats.org/officeDocument/2006/relationships" id="276" r:id="Re7eab2255acb44e5"/>
    <p:sldId xmlns:r="http://schemas.openxmlformats.org/officeDocument/2006/relationships" id="277" r:id="Rdfa88c91b4e247b8"/>
    <p:sldId xmlns:r="http://schemas.openxmlformats.org/officeDocument/2006/relationships" id="278" r:id="R6780648f8a1a4cc5"/>
    <p:sldId xmlns:r="http://schemas.openxmlformats.org/officeDocument/2006/relationships" id="279" r:id="R5c673448fbc140d2"/>
    <p:sldId xmlns:r="http://schemas.openxmlformats.org/officeDocument/2006/relationships" id="280" r:id="Rf062216d4a7b41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a13aa342b49c3" /><Relationship Type="http://schemas.openxmlformats.org/officeDocument/2006/relationships/theme" Target="/ppt/theme/theme1.xml" Id="Rda334a25138f4d49" /><Relationship Type="http://schemas.openxmlformats.org/officeDocument/2006/relationships/notesMaster" Target="/ppt/notesMasters/notesMaster1.xml" Id="Radae787fc9994f25" /><Relationship Type="http://schemas.openxmlformats.org/officeDocument/2006/relationships/presProps" Target="/ppt/presProps.xml" Id="Rc80e852ddadf4411" /><Relationship Type="http://schemas.openxmlformats.org/officeDocument/2006/relationships/viewProps" Target="/ppt/viewProps.xml" Id="R279f91e6ac434a17" /><Relationship Type="http://schemas.openxmlformats.org/officeDocument/2006/relationships/tableStyles" Target="/ppt/tableStyles.xml" Id="R000077eefc6c4516" /><Relationship Type="http://schemas.openxmlformats.org/officeDocument/2006/relationships/slide" Target="/ppt/slides/slide1.xml" Id="Rde622ffe3e854baa" /><Relationship Type="http://schemas.openxmlformats.org/officeDocument/2006/relationships/slide" Target="/ppt/slides/slide2.xml" Id="R0b4289cb9ab448e7" /><Relationship Type="http://schemas.openxmlformats.org/officeDocument/2006/relationships/slide" Target="/ppt/slides/slide3.xml" Id="R583c0065a15f462b" /><Relationship Type="http://schemas.openxmlformats.org/officeDocument/2006/relationships/slide" Target="/ppt/slides/slide4.xml" Id="R4ef8db263fef4bcf" /><Relationship Type="http://schemas.openxmlformats.org/officeDocument/2006/relationships/slide" Target="/ppt/slides/slide5.xml" Id="R21281ae405434f6a" /><Relationship Type="http://schemas.openxmlformats.org/officeDocument/2006/relationships/slide" Target="/ppt/slides/slide6.xml" Id="R1dbabf7bc09241c9" /><Relationship Type="http://schemas.openxmlformats.org/officeDocument/2006/relationships/slide" Target="/ppt/slides/slide7.xml" Id="R93313780253c4b29" /><Relationship Type="http://schemas.openxmlformats.org/officeDocument/2006/relationships/slide" Target="/ppt/slides/slide8.xml" Id="R8f073748f28b4e29" /><Relationship Type="http://schemas.openxmlformats.org/officeDocument/2006/relationships/slide" Target="/ppt/slides/slide9.xml" Id="Ra7dae953b7a34ac1" /><Relationship Type="http://schemas.openxmlformats.org/officeDocument/2006/relationships/slide" Target="/ppt/slides/slide10.xml" Id="Ra4200f3cd7994925" /><Relationship Type="http://schemas.openxmlformats.org/officeDocument/2006/relationships/slide" Target="/ppt/slides/slide11.xml" Id="R8fcf7f1ae4f74b32" /><Relationship Type="http://schemas.openxmlformats.org/officeDocument/2006/relationships/slide" Target="/ppt/slides/slide12.xml" Id="R99337e5176af4d28" /><Relationship Type="http://schemas.openxmlformats.org/officeDocument/2006/relationships/slide" Target="/ppt/slides/slide13.xml" Id="Rbab81ea308e94183" /><Relationship Type="http://schemas.openxmlformats.org/officeDocument/2006/relationships/slide" Target="/ppt/slides/slide14.xml" Id="R10e64dec9ef8438a" /><Relationship Type="http://schemas.openxmlformats.org/officeDocument/2006/relationships/slide" Target="/ppt/slides/slide15.xml" Id="Rd18ed075ae0b4871" /><Relationship Type="http://schemas.openxmlformats.org/officeDocument/2006/relationships/slide" Target="/ppt/slides/slide16.xml" Id="R42d809b2aeb940d4" /><Relationship Type="http://schemas.openxmlformats.org/officeDocument/2006/relationships/slide" Target="/ppt/slides/slide17.xml" Id="Rb816d65d579f4258" /><Relationship Type="http://schemas.openxmlformats.org/officeDocument/2006/relationships/slide" Target="/ppt/slides/slide18.xml" Id="Rd291d4a12deb4f0b" /><Relationship Type="http://schemas.openxmlformats.org/officeDocument/2006/relationships/slide" Target="/ppt/slides/slide19.xml" Id="R035c936f77cd464f" /><Relationship Type="http://schemas.openxmlformats.org/officeDocument/2006/relationships/slide" Target="/ppt/slides/slide20.xml" Id="R9441b1ffe14c4a7f" /><Relationship Type="http://schemas.openxmlformats.org/officeDocument/2006/relationships/slide" Target="/ppt/slides/slide21.xml" Id="Re7eab2255acb44e5" /><Relationship Type="http://schemas.openxmlformats.org/officeDocument/2006/relationships/slide" Target="/ppt/slides/slide22.xml" Id="Rdfa88c91b4e247b8" /><Relationship Type="http://schemas.openxmlformats.org/officeDocument/2006/relationships/slide" Target="/ppt/slides/slide23.xml" Id="R6780648f8a1a4cc5" /><Relationship Type="http://schemas.openxmlformats.org/officeDocument/2006/relationships/slide" Target="/ppt/slides/slide24.xml" Id="R5c673448fbc140d2" /><Relationship Type="http://schemas.openxmlformats.org/officeDocument/2006/relationships/slide" Target="/ppt/slides/slide25.xml" Id="Rf062216d4a7b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bade9ae9cc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fff66e6504eae" /><Relationship Type="http://schemas.openxmlformats.org/officeDocument/2006/relationships/notesMaster" Target="/ppt/notesMasters/notesMaster1.xml" Id="Re5997d2431fc43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a4ef1375f47d3" /><Relationship Type="http://schemas.openxmlformats.org/officeDocument/2006/relationships/notesMaster" Target="/ppt/notesMasters/notesMaster1.xml" Id="Rd8b47f403d6c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9eb9445324984" /><Relationship Type="http://schemas.openxmlformats.org/officeDocument/2006/relationships/notesMaster" Target="/ppt/notesMasters/notesMaster1.xml" Id="Rf5b8136a322648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baaac05e54a8e" /><Relationship Type="http://schemas.openxmlformats.org/officeDocument/2006/relationships/notesMaster" Target="/ppt/notesMasters/notesMaster1.xml" Id="Rf47a44d7f0e8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339046030944da" /><Relationship Type="http://schemas.openxmlformats.org/officeDocument/2006/relationships/notesMaster" Target="/ppt/notesMasters/notesMaster1.xml" Id="R99f43cebbe46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a73a16d9540bf" /><Relationship Type="http://schemas.openxmlformats.org/officeDocument/2006/relationships/notesMaster" Target="/ppt/notesMasters/notesMaster1.xml" Id="R6b866373798c42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be9bb9c64a475d" /><Relationship Type="http://schemas.openxmlformats.org/officeDocument/2006/relationships/notesMaster" Target="/ppt/notesMasters/notesMaster1.xml" Id="R296d1f535e68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ac754b74ef47ca" /><Relationship Type="http://schemas.openxmlformats.org/officeDocument/2006/relationships/notesMaster" Target="/ppt/notesMasters/notesMaster1.xml" Id="Rf002bcf88f3a40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137341d6a48cb" /><Relationship Type="http://schemas.openxmlformats.org/officeDocument/2006/relationships/notesMaster" Target="/ppt/notesMasters/notesMaster1.xml" Id="Re1b346de18d1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20a7082c2462f" /><Relationship Type="http://schemas.openxmlformats.org/officeDocument/2006/relationships/notesMaster" Target="/ppt/notesMasters/notesMaster1.xml" Id="Ra84a2d5e8da643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0f02794a69438f" /><Relationship Type="http://schemas.openxmlformats.org/officeDocument/2006/relationships/notesMaster" Target="/ppt/notesMasters/notesMaster1.xml" Id="Rc77b9cce9e354b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5b80b400214bf7" /><Relationship Type="http://schemas.openxmlformats.org/officeDocument/2006/relationships/notesMaster" Target="/ppt/notesMasters/notesMaster1.xml" Id="Rec91e1e9ba1b47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ef4a0c775c459e" /><Relationship Type="http://schemas.openxmlformats.org/officeDocument/2006/relationships/notesMaster" Target="/ppt/notesMasters/notesMaster1.xml" Id="R4407e642e91e45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52fe648c8a409d" /><Relationship Type="http://schemas.openxmlformats.org/officeDocument/2006/relationships/notesMaster" Target="/ppt/notesMasters/notesMaster1.xml" Id="R373bf5ebc8214f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2659ac731e4854" /><Relationship Type="http://schemas.openxmlformats.org/officeDocument/2006/relationships/notesMaster" Target="/ppt/notesMasters/notesMaster1.xml" Id="R09b1eaf9accd47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908388902f4b3d" /><Relationship Type="http://schemas.openxmlformats.org/officeDocument/2006/relationships/notesMaster" Target="/ppt/notesMasters/notesMaster1.xml" Id="Rce2f4feb315744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b9b94d4abb4dad" /><Relationship Type="http://schemas.openxmlformats.org/officeDocument/2006/relationships/notesMaster" Target="/ppt/notesMasters/notesMaster1.xml" Id="R0e53f40816004d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cb1e4c052440d1" /><Relationship Type="http://schemas.openxmlformats.org/officeDocument/2006/relationships/notesMaster" Target="/ppt/notesMasters/notesMaster1.xml" Id="Rc2436b1e71834d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a0c19aaed94e8f" /><Relationship Type="http://schemas.openxmlformats.org/officeDocument/2006/relationships/notesMaster" Target="/ppt/notesMasters/notesMaster1.xml" Id="Rd594bd719b6546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5ee0c4e3114d67" /><Relationship Type="http://schemas.openxmlformats.org/officeDocument/2006/relationships/notesMaster" Target="/ppt/notesMasters/notesMaster1.xml" Id="Rde701155665642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976d5005424aae" /><Relationship Type="http://schemas.openxmlformats.org/officeDocument/2006/relationships/notesMaster" Target="/ppt/notesMasters/notesMaster1.xml" Id="R487e8059b04f48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5fa98db55742d8" /><Relationship Type="http://schemas.openxmlformats.org/officeDocument/2006/relationships/notesMaster" Target="/ppt/notesMasters/notesMaster1.xml" Id="R6a5e93e8697841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25c890ee9d4824" /><Relationship Type="http://schemas.openxmlformats.org/officeDocument/2006/relationships/notesMaster" Target="/ppt/notesMasters/notesMaster1.xml" Id="R084be2f0342942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8ead9704564928" /><Relationship Type="http://schemas.openxmlformats.org/officeDocument/2006/relationships/notesMaster" Target="/ppt/notesMasters/notesMaster1.xml" Id="Rf4f588285d9440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d47aa9437e46e6" /><Relationship Type="http://schemas.openxmlformats.org/officeDocument/2006/relationships/notesMaster" Target="/ppt/notesMasters/notesMaster1.xml" Id="R810378f9b6ab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f124cdc054b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1243b1adc4b422c" /><Relationship Type="http://schemas.openxmlformats.org/officeDocument/2006/relationships/slideLayout" Target="/ppt/slideLayouts/slideLayout2.xml" Id="R343ed0387ec5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ed0387ec5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61140a72284c8e" /><Relationship Type="http://schemas.openxmlformats.org/officeDocument/2006/relationships/image" Target="/ppt/media/image.png" Id="Ra9cbf25ac0284bb2" /><Relationship Type="http://schemas.openxmlformats.org/officeDocument/2006/relationships/notesSlide" Target="/ppt/notesSlides/notesSlide1.xml" Id="Rf47eb5aecdfc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7ca3c165af4525" /><Relationship Type="http://schemas.openxmlformats.org/officeDocument/2006/relationships/notesSlide" Target="/ppt/notesSlides/notesSlide2.xml" Id="R93830abf703d4a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db2f4cd5b403a" /><Relationship Type="http://schemas.openxmlformats.org/officeDocument/2006/relationships/notesSlide" Target="/ppt/notesSlides/notesSlide3.xml" Id="R8699bf328bc44e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5dc628f6f41c8" /><Relationship Type="http://schemas.openxmlformats.org/officeDocument/2006/relationships/notesSlide" Target="/ppt/notesSlides/notesSlide4.xml" Id="R06f5ecf0299c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feeade2b645ee" /><Relationship Type="http://schemas.openxmlformats.org/officeDocument/2006/relationships/notesSlide" Target="/ppt/notesSlides/notesSlide5.xml" Id="Ree66bf8cb226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84d12c5074885" /><Relationship Type="http://schemas.openxmlformats.org/officeDocument/2006/relationships/notesSlide" Target="/ppt/notesSlides/notesSlide6.xml" Id="R86733f468afd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229e0692c4b5e" /><Relationship Type="http://schemas.openxmlformats.org/officeDocument/2006/relationships/image" Target="/ppt/media/image2.png" Id="R31e90ed650444c36" /><Relationship Type="http://schemas.openxmlformats.org/officeDocument/2006/relationships/notesSlide" Target="/ppt/notesSlides/notesSlide7.xml" Id="R4bd1de451b1e4a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5677b06514c7a" /><Relationship Type="http://schemas.openxmlformats.org/officeDocument/2006/relationships/notesSlide" Target="/ppt/notesSlides/notesSlide8.xml" Id="R5ff8bc3b814a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ca680118d492f" /><Relationship Type="http://schemas.openxmlformats.org/officeDocument/2006/relationships/image" Target="/ppt/media/image3.png" Id="R473707a26b9d494e" /><Relationship Type="http://schemas.openxmlformats.org/officeDocument/2006/relationships/image" Target="/ppt/media/image4.png" Id="Rf7d67ffbd2794144" /><Relationship Type="http://schemas.openxmlformats.org/officeDocument/2006/relationships/notesSlide" Target="/ppt/notesSlides/notesSlide9.xml" Id="Raf89c44abd444a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d24e5605c4624" /><Relationship Type="http://schemas.openxmlformats.org/officeDocument/2006/relationships/image" Target="/ppt/media/image5.png" Id="R2dee9e0e04ab484f" /><Relationship Type="http://schemas.openxmlformats.org/officeDocument/2006/relationships/notesSlide" Target="/ppt/notesSlides/notesSlide10.xml" Id="R130315bbfbe24a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5fb06b4654472" /><Relationship Type="http://schemas.openxmlformats.org/officeDocument/2006/relationships/image" Target="/ppt/media/image6.png" Id="R8c22d51eb62e44b0" /><Relationship Type="http://schemas.openxmlformats.org/officeDocument/2006/relationships/notesSlide" Target="/ppt/notesSlides/notesSlide11.xml" Id="R0a64b4f7cefb49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aa115b5c541b5" /><Relationship Type="http://schemas.openxmlformats.org/officeDocument/2006/relationships/notesSlide" Target="/ppt/notesSlides/notesSlide12.xml" Id="Rbd18869f1d554e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21336c01af444e" /><Relationship Type="http://schemas.openxmlformats.org/officeDocument/2006/relationships/image" Target="/ppt/media/image7.png" Id="Rc154dd16937444d8" /><Relationship Type="http://schemas.openxmlformats.org/officeDocument/2006/relationships/notesSlide" Target="/ppt/notesSlides/notesSlide13.xml" Id="R3d4b3169eb5841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8cbc04ccec47b0" /><Relationship Type="http://schemas.openxmlformats.org/officeDocument/2006/relationships/notesSlide" Target="/ppt/notesSlides/notesSlide14.xml" Id="Rfa20d60fed6347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969b17e4a42ed" /><Relationship Type="http://schemas.openxmlformats.org/officeDocument/2006/relationships/notesSlide" Target="/ppt/notesSlides/notesSlide15.xml" Id="R6edb268ed0ec4f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fa3b25bb541ba" /><Relationship Type="http://schemas.openxmlformats.org/officeDocument/2006/relationships/notesSlide" Target="/ppt/notesSlides/notesSlide16.xml" Id="R9a4029b7982b4b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d5db8e38f4009" /><Relationship Type="http://schemas.openxmlformats.org/officeDocument/2006/relationships/notesSlide" Target="/ppt/notesSlides/notesSlide17.xml" Id="R40e535fc31f343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000cd6a9f42a5" /><Relationship Type="http://schemas.openxmlformats.org/officeDocument/2006/relationships/image" Target="/ppt/media/image8.png" Id="R72b73ded06fd43d6" /><Relationship Type="http://schemas.openxmlformats.org/officeDocument/2006/relationships/image" Target="/ppt/media/image9.png" Id="R7d520bb618704160" /><Relationship Type="http://schemas.openxmlformats.org/officeDocument/2006/relationships/notesSlide" Target="/ppt/notesSlides/notesSlide18.xml" Id="R18b4ced8c6cf41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efee1d75043b5" /><Relationship Type="http://schemas.openxmlformats.org/officeDocument/2006/relationships/image" Target="/ppt/media/image10.png" Id="R17670f483d4e41c7" /><Relationship Type="http://schemas.openxmlformats.org/officeDocument/2006/relationships/notesSlide" Target="/ppt/notesSlides/notesSlide19.xml" Id="Rc50069342a8349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797bf99994f4a" /><Relationship Type="http://schemas.openxmlformats.org/officeDocument/2006/relationships/image" Target="/ppt/media/image11.png" Id="R91cca4a81bac4ae7" /><Relationship Type="http://schemas.openxmlformats.org/officeDocument/2006/relationships/notesSlide" Target="/ppt/notesSlides/notesSlide20.xml" Id="R5ae95545fb984a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552d6a2a24519" /><Relationship Type="http://schemas.openxmlformats.org/officeDocument/2006/relationships/image" Target="/ppt/media/image12.png" Id="R188ede997530473a" /><Relationship Type="http://schemas.openxmlformats.org/officeDocument/2006/relationships/notesSlide" Target="/ppt/notesSlides/notesSlide21.xml" Id="R2a8249d1c9eb4e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09115c6b94d44" /><Relationship Type="http://schemas.openxmlformats.org/officeDocument/2006/relationships/image" Target="/ppt/media/image13.png" Id="Ra8e6dd2dd037401f" /><Relationship Type="http://schemas.openxmlformats.org/officeDocument/2006/relationships/notesSlide" Target="/ppt/notesSlides/notesSlide22.xml" Id="Rd545cffb668643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bf2a3e1084bd3" /><Relationship Type="http://schemas.openxmlformats.org/officeDocument/2006/relationships/image" Target="/ppt/media/image14.png" Id="R941b6c4ceef64d9e" /><Relationship Type="http://schemas.openxmlformats.org/officeDocument/2006/relationships/notesSlide" Target="/ppt/notesSlides/notesSlide23.xml" Id="R27d1b64bf7a143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fd435a4254a6a" /><Relationship Type="http://schemas.openxmlformats.org/officeDocument/2006/relationships/notesSlide" Target="/ppt/notesSlides/notesSlide24.xml" Id="Rf0797c928b9a48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f6881303d451a" /><Relationship Type="http://schemas.openxmlformats.org/officeDocument/2006/relationships/notesSlide" Target="/ppt/notesSlides/notesSlide25.xml" Id="Re29071eb225441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B031E-CEC1-4C6B-B4EA-9B87B04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252D-C2BE-402F-B2C7-9361AAD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FEEC0-E6BF-4F8E-AEA8-D99786B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bf25ac0284bb2"/>
          <a:stretch xmlns:a="http://schemas.openxmlformats.org/drawingml/2006/main"/>
        </p:blipFill>
        <p:spPr>
          <a:xfrm xmlns:a="http://schemas.openxmlformats.org/drawingml/2006/main">
            <a:off x="6457950" y="1648783"/>
            <a:ext cx="4762500" cy="14077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494EC-DE32-49E1-B8DE-A8279C4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EA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8EAF2"/>
                </a:solidFill>
                <a:latin typeface="Aptos"/>
                <a:ea typeface="Aptos"/>
                <a:cs typeface="Aptos"/>
              </a:rPr>
              <a:t>Publication_2 | Báo cáo nghiên cứu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5D4E1-9DA4-4618-8417-8D10056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Intelligent AutoEncoder-Based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CD753-0FAB-4B46-AFCD-C42DAE6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7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9D7E6"/>
                </a:solidFill>
                <a:latin typeface="Aptos"/>
                <a:ea typeface="Aptos"/>
                <a:cs typeface="Aptos"/>
              </a:rPr>
              <a:t>Tối ưu hiệu năng truyền dẫn trên kênh vô tuyến không lý tưởng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D7EF2-F049-47E7-B756-FBF60983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C7D0B-A8DF-421D-B59B-31AE48EB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565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 → Encoder θT → channel h(·) → Decoder θR → p(m|y)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D3F48-8D43-4CE8-BE51-E4C27881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0D0"/>
                </a:solidFill>
                <a:latin typeface="Aptos"/>
                <a:ea typeface="Aptos"/>
                <a:cs typeface="Aptos"/>
              </a:rPr>
              <a:t>Báo cáo trình bày theo hướng học thuật: vấn đề, mô hình, phương pháp, kết quả và giới hạn diễn giải.</a:t>
            </a:r>
          </a:p>
        </p:txBody>
      </p:sp>
    </p:spTree>
    <p:extLst>
      <p:ext uri="{BB962C8B-B14F-4D97-AF65-F5344CB8AC3E}">
        <p14:creationId xmlns:p14="http://schemas.microsoft.com/office/powerpoint/2010/main" val="14890213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50D47-9A5D-4D88-9B01-84C880E7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6ED1D-211D-489A-877A-E9F56C2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5A9C2-C1F2-4060-B25B-49B3206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Cấu trúc báo cáo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C2504-3827-4F89-B9E6-D0B82F0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Từ vấn đề kênh không lý tưởng đến bằng chứng 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98378-B008-41D1-B2AD-E7F23369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29476-7BBD-4506-B876-3543D72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AFD0F-1611-4B6A-AA67-DACF8066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8A12-1749-44AC-ACA5-69A693C0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335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CCCD6-9795-43F0-A132-B54B5BD0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335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Động cơ: vì sao thiết kế điều chế cố định suy giảm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D54B3-269B-465D-84E7-B45E5FE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D5BF-B983-4701-9555-03525DF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765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EC6D3-6758-46D9-9A70-95BD239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Mô hình: PA phi tuyến, CFO, fading và nhiễu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BC740-1DCF-4933-BEB9-EC713D9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272B7-FA67-4BD8-B225-E9434D7F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A2CD8-BFF8-43AC-BF72-DF92168E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Phương pháp: AutoEncoder đầu-cuối cho lớp vật lý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4C6CA-BECB-47E0-8B12-31C7C64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0602E-CF57-498A-83DD-99DFD28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8DDFF-9052-4432-8915-738BC870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624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Kết quả: 3 kịch bản đánh giá và diễn giải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9B88F-3A11-4E16-A529-859145A2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E7070-E394-4D23-A555-E2D7184B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0393B-8D38-43AB-81D7-C4EDBE2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053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Thảo luận: giới hạn, ý nghĩa và hướng tích hợp</a:t>
            </a:r>
          </a:p>
        </p:txBody>
      </p:sp>
    </p:spTree>
    <p:extLst>
      <p:ext uri="{BB962C8B-B14F-4D97-AF65-F5344CB8AC3E}">
        <p14:creationId xmlns:p14="http://schemas.microsoft.com/office/powerpoint/2010/main" val="2065313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F56E3-C303-426B-83BB-82586EE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FD4D1-A348-46A4-970B-0B983E7A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24A"/>
          </a:solidFill>
          <a:ln xmlns:a="http://schemas.openxmlformats.org/drawingml/2006/main" w="9525">
            <a:solidFill>
              <a:srgbClr val="1D4A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9D7F-2D79-4376-AD70-660C88A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8EA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78EAF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A6FAB-3E60-4812-B52A-987DA764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Vấn đề nghiên cứu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CC4A0-1035-44B3-91E7-5CE605DC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2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4D2E2"/>
                </a:solidFill>
                <a:latin typeface="Aptos"/>
                <a:ea typeface="Aptos"/>
                <a:cs typeface="Aptos"/>
              </a:rPr>
              <a:t>Khi mô hình kênh khác giả thiết lý tưởng, tối ưu từng khối riêng rẽ không còn đảm bảo tối ưu toàn hệ thống.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9D3BA-C33C-406B-8363-AA1F1B7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7546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77EEC-665C-4638-87CB-B8255C2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F3AD-D772-4134-AD50-30CE1E0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B4B0-AFB2-4AB7-89A2-5EC5ED9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Động cơ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87D00-B8F7-4D2F-8165-A60B0D68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Các sai lệch không lý tưởng làm thay đổi miền quyết định của máy thu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724D6-1EE2-427C-9822-E71030A9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Sai lệch phần cứng và kênh không chỉ làm tăng nhiễu; chúng làm biến dạng cấu trúc hình học mà bộ thu đang dựa vào.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AD049-F18A-44B9-AB8B-51CB17C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1B714-0FBE-4C1A-9E32-2ED37ED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1D3B-00C0-4932-ABEA-F902FC3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24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AC49-7128-451F-94F0-58B3C99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 phi tuyến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8C39C-02F2-4B7C-AB34-2F22725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Nén biên độ, AM/PM, giảm khoảng cách hiệu dụng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756F8-9FED-463A-8D8F-63F6272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D899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9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48C89-4AA4-4FCF-AF43-53DA727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4724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F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EFA6-B9ED-4E8E-9C25-43308A33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82FE8-3D4B-4B92-940D-29BD5A64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Pha quay tích lũy theo thời gian, phá quyết định symbol độc lập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0412A-3E4C-4B7E-869B-D113E9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384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D899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9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4BC6B-1C29-47F3-A226-73094A9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724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5894F-9C6D-4CD9-8801-8EDF97C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Rayleigh fading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08A43-641D-4E8D-A658-79B3126B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Biên độ và pha kênh biến thiên ngẫu nhiên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956DC-D384-437D-9AD2-5233610D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D899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9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DF234-7F76-4286-B972-CB0B06F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724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E1463-E706-41AA-A251-F67BE7D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AWGN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F2523-109C-41A7-9084-F73D3897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2432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Tăng xác suất nhầm lẫn quanh biên quyết định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5CC08-F7B2-4266-88F5-B86C981D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71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D899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9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8169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5FEE7-739E-4828-BFF0-B8144E8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9F101-27B8-477A-A84A-14D0D3C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D36F1-47F6-4F39-BD12-FD1E293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Khoảng trống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795AB-07E4-4193-ABE1-2E06261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Điểm yếu của chuỗi truyền thống nằm ở tối ưu cục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E81AA-09AC-4E60-B802-F6042E93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4C146-7E18-40AD-9156-5A63C23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7FFA1-88D2-4EF3-BF6C-72F8335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20F89-56AB-41EA-BF71-87F8F22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C7C93-524E-46D9-8CA1-697F8EC8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Chuỗi truyền thống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184DC-096F-4975-B1E8-541F6AD1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AutoEncoder đầu-cuối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22526-BB43-4265-B1BB-D8020A5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70649-0F9E-4AEF-ADD2-915F6E2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Điều chế chọn trước: 16-QAM/QPSK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38054-07DD-45E4-83F0-965953B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C58C-F82D-4F6A-9943-9EFCBE4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Bù kênh, đồng bộ và giải điều chế là khối riêng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78F4C-0867-4DA6-9DB8-06C0D88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9D7EE-2A4C-4BBD-A492-569B50CA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Giả thiết tuyến tính thường bị phá bởi PA/CFO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E61A7-3AD5-43AF-ACB9-E33BE2FB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9AAE4-4884-41C2-9672-FBED5E21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Không học lại hình học tín hiệu theo kênh cụ thể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54C87-457B-42F0-BDCA-49AF6DD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81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D60ED-EB8C-432F-A6FC-0585967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Encoder học ánh xạ message → I/Q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D52E2-3FE4-45FE-B980-01544AC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CF24E-C7E3-4FF1-9F30-4AD3F50C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861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Channel layer đưa sai lệch vào vòng huấn luyện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2159C-1DFE-4C21-B72C-BE1C096A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F5D0D-1121-46C3-8E88-FB5BB795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Decoder học phân bố hậu nghiệm p(m|y)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C8163-9A8A-4ADA-9275-888030C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38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0FAE0-6C38-48DE-BB4B-BC7888D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910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Tối ưu trực tiếp loss theo lỗi nhận dạng thông điệp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36965-8B81-4BEB-A8A1-149E1C0C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48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4537-F068-4F16-B0A2-569B09A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28575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8106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76CBC-C71D-4564-B824-E079E312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79CE4-8BAC-4CDC-8A90-B97E7C90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24A"/>
          </a:solidFill>
          <a:ln xmlns:a="http://schemas.openxmlformats.org/drawingml/2006/main" w="9525">
            <a:solidFill>
              <a:srgbClr val="1D4A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1D578-3350-4B59-9795-5C0F720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8EA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78EAF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84915-7BAE-47FF-B644-E6862B7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Mô hình hệ thống và kênh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A00F3-DC3B-4766-A55D-F9FCDF2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2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4D2E2"/>
                </a:solidFill>
                <a:latin typeface="Aptos"/>
                <a:ea typeface="Aptos"/>
                <a:cs typeface="Aptos"/>
              </a:rPr>
              <a:t>Bài báo không đánh giá AE trên kênh lý tưởng đơn giản, mà đưa các sai lệch vật lý vào quá trình huấn luyện.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E513-59D3-4E05-A7BF-9C706D09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9816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AA8FA-E98D-4AF0-AF1E-3631F84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9EEE-3B20-4684-8A14-32A5ADB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70B6D-8CB3-44C3-8C4D-71BFE8FB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Mô hình truyền dẫn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4E242-390C-464F-BD4A-DD62078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Hệ thống được mô tả như một chuỗi khả vi từ thông điệp đến xác suất hậu nghiệm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086D3-9213-4853-A549-A7636A49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5BCD7-1918-470F-933C-5B72D9E6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90ed650444c36"/>
          <a:stretch xmlns:a="http://schemas.openxmlformats.org/drawingml/2006/main"/>
        </p:blipFill>
        <p:spPr>
          <a:xfrm xmlns:a="http://schemas.openxmlformats.org/drawingml/2006/main">
            <a:off x="6343650" y="2711450"/>
            <a:ext cx="5048250" cy="1492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FB9B9-A94F-4933-8A0A-575FB380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9C1D1-979C-4BF4-B7DA-E798154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59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 → one-hot → fθT(m) = x → h(x) + w = y → gθR(y) = p(m|y)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63E1F-455C-4890-A245-364E886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831D5-240B-4A13-88C7-AA522C4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Message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B597D-048C-4B84-8B20-7EFCEC6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1E21D-F6C9-4822-A581-13A33856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Transmitter NN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94538-E0DB-4942-92C5-DE2B9D0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D3E50-045A-4E99-B599-0ECC6E65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Non-ideal channel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3CA28-F0CF-40EA-80BC-285106F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618EF-8A3E-4BC6-B410-6035F06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Receiver NN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5F21-7851-45EE-B13E-64EB75D8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Điểm cần chú ý: channel layer không phải dữ liệu phụ, mà là phần của graph huấn luyện để gradient định hình encoder/decoder.</a:t>
            </a:r>
          </a:p>
        </p:txBody>
      </p:sp>
    </p:spTree>
    <p:extLst>
      <p:ext uri="{BB962C8B-B14F-4D97-AF65-F5344CB8AC3E}">
        <p14:creationId xmlns:p14="http://schemas.microsoft.com/office/powerpoint/2010/main" val="452965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3F22D-BA5F-4353-87CC-F4AA82A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CA508-889C-438E-9FA3-29B95CF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25F44-E18E-47A1-A7AA-97F097E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Kênh không lý tưởng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560AC-8D10-493B-A5EA-13CB660D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 cơ chế vật lý chi phối dữ liệu huấn luyện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9A59-AAE6-4C1D-80D2-40D5C15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1D236-A17D-4534-9A64-CA5C511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35CFA-6D06-4733-816F-1E7F3D0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743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53DDB-001A-42AC-AB92-211440BC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PA Rapp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09C6D-20CC-4F18-A8B7-BC17BCE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g(r)=r/[1+(r/Asat)^(2p)]^(1/(2p))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E2B54-AD1D-4C51-9A70-10C6178B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90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Méo biên độ khi gần bão hòa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F27E8-2EE7-4DC7-B922-6F60CA0F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4743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361E-C97A-4043-BBFF-A445753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82B5-27C5-4792-B63E-02968763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y[n]=x[n]e^{j2πΔfTsn}+w[n]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80900-D171-46EF-B4A3-69D07518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Pha quay có cấu trúc tuần tự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8AA21-A478-4BB6-B30A-D4BAA249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743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7BE9D-F306-4D27-906B-F2B9545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Multipath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E2C01-67DE-49B4-9064-F034033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y[n]=Σ_l h[l]x[n-l]+w[n]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B8CA8-F753-4051-9E11-D3BA224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95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Tín hiệu nhận là tổng nhiều đường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1956A-EB5E-4BDF-B0A9-961D5325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4743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1D453-6E83-4430-A43F-F8C44BE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Power norm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DFD35-7B46-477E-9CEB-7DBEAA8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x=xraw/sqrt(E||xraw||²+ε)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567B4-0469-44C9-B9D8-EC79B905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Tránh nghiệm tăng công suất vô hạn</a:t>
            </a:r>
          </a:p>
        </p:txBody>
      </p:sp>
    </p:spTree>
    <p:extLst>
      <p:ext uri="{BB962C8B-B14F-4D97-AF65-F5344CB8AC3E}">
        <p14:creationId xmlns:p14="http://schemas.microsoft.com/office/powerpoint/2010/main" val="9202886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3A2CF-E08A-4DE3-8860-8C84AD2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5A946-898A-4603-B620-EE895D2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8E823-C96A-48F3-A44B-7CA2886B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Tác động 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18E3-CBEE-47A8-8FC0-7C902B3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 biến chòm sao vuông thành phân bố méo phi tuyến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961AE-8957-4B44-B9CF-D79D9D0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Vấn đề không chỉ là dịch chuyển từng điểm, mà là thay đổi khoảng cách tương đối giữa các lớp quyết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70D85-A178-4920-A68A-FF22B5B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499F8-34BD-4020-9012-CF3F770F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89E78-CF50-4700-83B2-8EF8389E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707a26b9d494e"/>
          <a:stretch xmlns:a="http://schemas.openxmlformats.org/drawingml/2006/main"/>
        </p:blipFill>
        <p:spPr>
          <a:xfrm xmlns:a="http://schemas.openxmlformats.org/drawingml/2006/main">
            <a:off x="1937457" y="2400300"/>
            <a:ext cx="2563985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04CCC-CCD4-426F-8042-9E460AD3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673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51151-7956-42AC-A1EF-254D28F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435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16-QAM lý tưởng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39253-CACF-447D-960A-D6344F8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526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67ffbd2794144"/>
          <a:stretch xmlns:a="http://schemas.openxmlformats.org/drawingml/2006/main"/>
        </p:blipFill>
        <p:spPr>
          <a:xfrm xmlns:a="http://schemas.openxmlformats.org/drawingml/2006/main">
            <a:off x="7442788" y="2400300"/>
            <a:ext cx="2507074" cy="2476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01704-8B94-424E-8776-139D431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673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E093-1638-4FE2-8B1B-F059604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435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52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5252"/>
                </a:solidFill>
                <a:latin typeface="Aptos"/>
                <a:ea typeface="Aptos"/>
                <a:cs typeface="Aptos"/>
              </a:rPr>
              <a:t>16-QAM sau PA</a:t>
            </a:r>
          </a:p>
        </p:txBody>
      </p:sp>
    </p:spTree>
    <p:extLst>
      <p:ext uri="{BB962C8B-B14F-4D97-AF65-F5344CB8AC3E}">
        <p14:creationId xmlns:p14="http://schemas.microsoft.com/office/powerpoint/2010/main" val="441076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4F025-F0E7-4EAC-9D8B-E2C915F3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FC64A-7BFC-41CE-9F28-7A95816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5AB4F-7039-4026-9CD4-3CB5A47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Mô hình 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3B5F-87A4-4905-AB74-0BC61081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Vùng bão hòa làm lợi ích tăng công suất trở nên phi tuyến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7F29E-A182-4C3F-8209-FD89F92C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Nếu huấn luyện không có ràng buộc vật lý, mạng có thể học nghiệm không khả thi. Vì vậy loss cần phạt biên độ vượt vùng vận hành.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6176F-9600-4864-9D40-C83C6FB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90D48-091C-449C-B82F-1371E36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e9e0e04ab484f"/>
          <a:stretch xmlns:a="http://schemas.openxmlformats.org/drawingml/2006/main"/>
        </p:blipFill>
        <p:spPr>
          <a:xfrm xmlns:a="http://schemas.openxmlformats.org/drawingml/2006/main">
            <a:off x="628650" y="2733067"/>
            <a:ext cx="5715000" cy="198241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7FA33-858E-4BDC-B7B1-F3AC821D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1E67-E975-44E3-B407-48DD7CA6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3448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LPA = E[max(||x|| − γAsat, 0)²]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7B352-760E-4121-964E-04D67A4D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EAFA4-554F-4201-BA1B-2D6F383B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448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Φ(r)=αPM r²/(1+βPM r²)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15E63-2DD0-4D09-837E-28D65195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F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45234-1DD6-4D11-AB0A-DA342A8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Ý nghĩa: điều chế phải học cách phân bố năng lượng trong vùng PA còn gần tuyến tính.</a:t>
            </a:r>
          </a:p>
        </p:txBody>
      </p:sp>
    </p:spTree>
    <p:extLst>
      <p:ext uri="{BB962C8B-B14F-4D97-AF65-F5344CB8AC3E}">
        <p14:creationId xmlns:p14="http://schemas.microsoft.com/office/powerpoint/2010/main" val="761511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9B18B-8D7E-4B54-8AAD-76C99E2D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DFC36-9B03-4FC8-A0BD-CB64CE5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E4896-A279-4C67-8254-29EAA72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590C-7487-475B-ABB3-52A4B0A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CFO tạo sai lệch pha có ký ức thời gian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22F52-BAD8-4DD6-961D-724819DC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Khi φ[n+1]−φ[n] gần hằng, một cửa sổ nhiều symbol chứa thông tin để suy ra tốc độ quay pha.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AF6C4-41A0-478E-A518-7603FDF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FC37-E063-4066-9545-E7278603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2d51eb62e44b0"/>
          <a:stretch xmlns:a="http://schemas.openxmlformats.org/drawingml/2006/main"/>
        </p:blipFill>
        <p:spPr>
          <a:xfrm xmlns:a="http://schemas.openxmlformats.org/drawingml/2006/main">
            <a:off x="685800" y="2214189"/>
            <a:ext cx="5810250" cy="307732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2F84B-A578-4174-9141-0613495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5E2A8-6413-4832-9AC2-F3EFAE8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φ[n]=2πΔfTsn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92AAD-EDCB-4BD0-B67A-4A03879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E6FA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DBFD8-6EBB-45CE-93A8-6F607F3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2705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Pha quay tích lũy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416C1-DB29-43CD-B71F-4B75EBB3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F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298AE-A902-45CB-89CA-178E311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2705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A52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A529"/>
                </a:solidFill>
                <a:latin typeface="Aptos"/>
                <a:ea typeface="Aptos"/>
                <a:cs typeface="Aptos"/>
              </a:rPr>
              <a:t>Sai số không độc lập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14C5D-BD2A-4128-9F5E-A3DCE0E6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E6FA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E1A26-8345-4271-B76B-84CDA07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2705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Cần ngữ cảnh symbol</a:t>
            </a:r>
          </a:p>
        </p:txBody>
      </p:sp>
    </p:spTree>
    <p:extLst>
      <p:ext uri="{BB962C8B-B14F-4D97-AF65-F5344CB8AC3E}">
        <p14:creationId xmlns:p14="http://schemas.microsoft.com/office/powerpoint/2010/main" val="21250543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231FC-039B-4554-8D65-D0CC1319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D215B-2BF3-41DC-91AB-AC54B8FD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24A"/>
          </a:solidFill>
          <a:ln xmlns:a="http://schemas.openxmlformats.org/drawingml/2006/main" w="9525">
            <a:solidFill>
              <a:srgbClr val="1D4A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6DF0B-D59D-48BB-9426-1745838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8EA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78EA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64139-CB62-4151-9E09-C236CA8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Phương pháp AutoEncoder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54EB8-32B2-435B-AB4F-DF6EC78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2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4D2E2"/>
                </a:solidFill>
                <a:latin typeface="Aptos"/>
                <a:ea typeface="Aptos"/>
                <a:cs typeface="Aptos"/>
              </a:rPr>
              <a:t>Điểm chính không phải dùng mạng học sâu thay cho mọi khối, mà là học ánh xạ tín hiệu dưới ràng buộc của mô hình kênh.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105E-1577-482B-9CF3-F0E1DEF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891609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FF12EA-2613-4206-97ED-7F09639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BAC8-59BC-4377-8394-4821C38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06D37-99B2-4D38-AB3C-A83C6995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Kiến trúc tổng quát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B43B2-B268-4BC1-8AD7-D938FA2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Encoder học chòm sao; decoder học luật quyết định xác suất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7F10B-8505-4B46-A27A-DEC0D771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Đầu ra softmax không chỉ phục vụ phân loại thông điệp, mà còn mở đường cho LLR mềm khi tích hợp với decoder kênh.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79AF9-9009-48CE-9061-14317D9B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7A7B2-9049-424A-A377-3437A170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4dd16937444d8"/>
          <a:stretch xmlns:a="http://schemas.openxmlformats.org/drawingml/2006/main"/>
        </p:blipFill>
        <p:spPr>
          <a:xfrm xmlns:a="http://schemas.openxmlformats.org/drawingml/2006/main">
            <a:off x="857250" y="2253683"/>
            <a:ext cx="7429500" cy="299833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22F9F-DE05-46E1-9668-5AC5FD64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95D2E-B0DB-4A3B-9202-CC14A068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Đọc kiến trúc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93D2-1A8B-4376-A016-EF92F72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3E555-1471-4D15-A195-B6A69F1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Input one-hot biểu diễn thông điệp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5CD76-9752-4954-8111-F42DCD3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8E46F-E3FA-4B91-AF9E-4E20A654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Latent signal là I/Q truyền qua kênh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63363-24CA-41FF-95C4-DD452FA1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9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2BA06-B723-49D6-9EB1-E82E1C33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Softmax cho xác suất hậu nghiệm</a:t>
            </a:r>
          </a:p>
        </p:txBody>
      </p:sp>
    </p:spTree>
    <p:extLst>
      <p:ext uri="{BB962C8B-B14F-4D97-AF65-F5344CB8AC3E}">
        <p14:creationId xmlns:p14="http://schemas.microsoft.com/office/powerpoint/2010/main" val="2740394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2FF368-9ABC-44E8-A93B-1861550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9466D-8857-4AB4-AD0E-2F11EC1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5B502-2623-434E-9FDF-7E57B42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Huấn luyện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6F120-1E68-48A9-8957-F28C469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Hàm mất mát kết hợp mục tiêu thông tin và ràng buộc vật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8F8CC-7D90-48A3-82BE-77133EBC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Cross-entropy đo lỗi nhận dạng thông điệp; các thành phần phạt giữ nghiệm trong miền công suất và hình học hợp lý.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B5972-DB2F-4B7E-AF90-7DFF7F83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3D8BF-B9DA-42F8-8BF2-417CD25B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16858-F30F-4E55-965D-13D5AE3D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DD0C9-82F7-4588-B712-1C27917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21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LCE = −Σm 1{m} log pθ(m|y)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128FB-94D8-4589-8BA6-ED5633C9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32B1A-5E8D-42E3-8506-8690618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621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Ltotal = LCE + λP LPA + λD max(dtarget² − dmin²,0)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9EA00-C03A-4C34-8701-2C3512F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C1046-5284-4C84-85FC-D1A459C1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621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dmin = min i≠j ||xi − xj||₂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CD514-D076-4DF5-BF7B-2819CEC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285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DAD56-8DF9-476B-9782-4628616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Thiết kế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9DCDB-FE50-4BE1-83A6-97DA4E3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82F7E-519B-4340-88A4-ED4137D2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Curriculum learning: tăng dần độ khó kênh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02D99-B0EE-479E-BA84-CB0868FE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0C137-1962-46BF-85E8-061A605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Channel layer: mô phỏng PA/CFO/fading trong vòng 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560C1-0A4D-4839-B1AD-123E330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92EC3-4C96-4C3A-98B3-CEFA38E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Softmax: cho phép suy ra độ tin cậy mềm</a:t>
            </a:r>
          </a:p>
        </p:txBody>
      </p:sp>
    </p:spTree>
    <p:extLst>
      <p:ext uri="{BB962C8B-B14F-4D97-AF65-F5344CB8AC3E}">
        <p14:creationId xmlns:p14="http://schemas.microsoft.com/office/powerpoint/2010/main" val="10462855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30434-200C-4F8E-8720-A19AF6CF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AE2C2-9E0A-45E6-829E-06C47BD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89716-2329-4FF5-9D45-FF9DD1E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Thiết kế thí nghiệm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7464B-D8FE-4D05-9C6B-7622575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 kịch bản kiểm chứng ba giả thuyết khác nhau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2424C-E8E2-4BE6-9E74-F0676F0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BDE1C-2171-468C-964D-639838A9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E3412-729F-4029-AB14-405AD08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14316-4EC1-4395-B496-0F1F1F91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1675-5A27-426B-AC43-C2ED246A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343C1-49CB-4299-9DE9-236F6F7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Kiến trúc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00250-17F5-43CB-A775-7112A6C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2D5E5-71ED-414E-80C4-93B6A76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 lệch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2CBD8-2C19-45CC-8998-2FB2AD4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16636-6572-44F8-AEE7-EC0D0E8E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Giả thuyết kiểm chứng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06650-BAA5-4CF7-B802-0B44D0EF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66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38287-C1A7-4D2D-9F0D-29F34AC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D7A6C-05B6-4CA1-A548-A43C2A7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70AE0-F9BA-4EB0-893E-26D813B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8607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Single-symbol 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F1001-2046-49E0-9342-38CBF1A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1BC33-3676-4E39-94DD-FDF2B221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860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 + Rayleigh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5BB52-43AD-4888-B853-A22BDE8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4C87D-B47E-429C-84C5-644E9B6B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86075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hình học chòm sao chịu méo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5EB4F-1CD3-4206-BFC5-826D26B4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6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C3BDB-13DC-4DDA-8943-629697FB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557D6-5D91-431C-BDAA-A81F28DB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A562E-BE5C-4FF2-B12F-59D16B7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671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Multi-symbol AE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B3DA4-5555-411D-972C-64DA4BDF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63ED1-72D4-48A7-B3C2-D06EEDA2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6712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08523-58B4-41AE-8CD5-CC392D8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7A66C-4813-48D0-A7D4-AEF1AD2B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quy luật pha theo thời gian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07381-640E-4885-BEDA-0019774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66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9D13CC-202D-47D5-A3D8-FB9D02C7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1E9FE8-744F-49A1-9178-09B051C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0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9BF4D-D204-4A48-B023-79E159E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4817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Neural FEC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D891D7-4AFB-4E9D-B5FD-E7BE7E17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00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4EBEF5-AEDC-4021-B15C-1D392C0D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481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Composite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C2869-8EC2-4B77-AD69-691FA3E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98563-0BC8-429D-8160-62EC9889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48175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dư thừa mã hóa và điều chế chung</a:t>
            </a:r>
          </a:p>
        </p:txBody>
      </p:sp>
    </p:spTree>
    <p:extLst>
      <p:ext uri="{BB962C8B-B14F-4D97-AF65-F5344CB8AC3E}">
        <p14:creationId xmlns:p14="http://schemas.microsoft.com/office/powerpoint/2010/main" val="203917739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46485-A911-4919-9918-A43476E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928AB-301C-448C-BE04-DCA227A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24A"/>
          </a:solidFill>
          <a:ln xmlns:a="http://schemas.openxmlformats.org/drawingml/2006/main" w="9525">
            <a:solidFill>
              <a:srgbClr val="1D4A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EDFDB-0D62-451C-B754-B9FAB3A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8EA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78EAF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5F8D4-4EC9-4637-B850-C912AE1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Kết quả và phân tích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78FA1-D41B-4E5A-B86E-EF8DB66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2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4D2E2"/>
                </a:solidFill>
                <a:latin typeface="Aptos"/>
                <a:ea typeface="Aptos"/>
                <a:cs typeface="Aptos"/>
              </a:rPr>
              <a:t>Mỗi kết quả được đọc theo cặp: cơ chế học nào tạo ra lợi ích, và giới hạn diễn giải nằm ở đâu.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CD141-8CA4-4D27-9555-267BD8E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20209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AEB05-EB02-41A6-A44A-971D8E8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FE247-D276-4076-B968-54F3837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8A87B-26DD-4DEF-B9B0-64D3103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Scenario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23E4D-B242-4A7A-9B4A-03601D2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Single-symbol AE tối ưu trực tiếp vị trí điểm tín hiệu dưới PA/Rayleigh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12D16-94C8-4EF2-B6F2-0647AF3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Mạng học một chòm sao có lợi sau biến dạng, thay vì giữ hình học vuông rồi cố sửa ở máy thu.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52F29-08D6-41F7-9679-50536BF4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849B3-D147-48A9-933F-FFD8708A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0A1DC-3B63-410F-B132-F6C280E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2091B-6CEC-42F0-B59C-0152D5A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935F0-A58D-4303-8721-98D9A97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908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6DE2F-2166-485F-AA67-6CA81B61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43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7C46F-43C3-494E-9A83-B18BCDCC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FCCFD-736C-406C-95DD-0523B6F4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9DF4B-E8E9-4BB8-A026-7811667B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908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F7C33-5A89-4A40-A853-23B4A8E5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8B70-9BC8-4134-A961-0001B7D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3EA58-6388-43F0-BC5C-D49542D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3933B-4CE7-45CF-9A69-D15DF71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908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417FA-C2C3-46CE-A72F-FAAE274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143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A96C0-E367-4EEE-A30C-330A24A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44473-0EB0-4BE6-9613-F96E3E0D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Rayleigh + AWGN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CF386-16CA-45EA-BDBD-AA6B02AA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B772A-ADC4-4E08-9480-7692649B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C0A3A-6E38-44EB-8785-2DB6E4B0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465EE-2BE6-41A7-8B67-0D47051B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4E895-4DA9-4280-88B0-6ED2F22C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56EBE-B872-4443-A7A7-A574BE5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43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245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09FE4-9D30-401C-9769-08E3FF1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ABBC8-26FD-46B1-A9A7-6AC2597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132A1-A9CF-4A81-8253-137CD7E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770DF-41A1-4847-A22A-0563001F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Không cần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3893B-C9D2-49AD-937E-8FB7239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701073-D51B-431F-AE0A-8FB9842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Tập trung hình học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7F41A7-7100-4589-9C6C-BE3D979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0FD8E-A1F2-4427-B519-A82A67BF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577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M=16</a:t>
            </a:r>
          </a:p>
        </p:txBody>
      </p:sp>
    </p:spTree>
    <p:extLst>
      <p:ext uri="{BB962C8B-B14F-4D97-AF65-F5344CB8AC3E}">
        <p14:creationId xmlns:p14="http://schemas.microsoft.com/office/powerpoint/2010/main" val="15256891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48DA7-FEB0-4CD8-A22D-9B316FFA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98E82-B136-4E25-A579-B9B88CCC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479CC-AC3B-4397-8C6A-F558516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Bằng chứng 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44FF2-5FAF-45C2-BBFC-F491AE9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Chòm sao học được không còn bị ràng buộc bởi hình vuông 16-QAM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8F5EF-16C3-4F9E-BAA5-6F3FB32B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Các điểm AE dịch chuyển để cân bằng khoảng cách sau-kênh và tránh vùng PA bất lợi.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07C91-A06B-4901-8DB1-5697C1D0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F19A2-D691-46E2-AD57-328B68BC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B74AF-8E08-4922-AF7C-D75665B7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73ded06fd43d6"/>
          <a:stretch xmlns:a="http://schemas.openxmlformats.org/drawingml/2006/main"/>
        </p:blipFill>
        <p:spPr>
          <a:xfrm xmlns:a="http://schemas.openxmlformats.org/drawingml/2006/main">
            <a:off x="1890911" y="2400300"/>
            <a:ext cx="2657078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3F91B-7D90-40AF-A4EE-516F49A6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673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CCC81-9A22-4227-BD06-A6EBA7AE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435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Chòm sao AE học được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668BA-0E85-4E27-A7F2-34F160B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526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20bb618704160"/>
          <a:stretch xmlns:a="http://schemas.openxmlformats.org/drawingml/2006/main"/>
        </p:blipFill>
        <p:spPr>
          <a:xfrm xmlns:a="http://schemas.openxmlformats.org/drawingml/2006/main">
            <a:off x="6524625" y="2520398"/>
            <a:ext cx="4343400" cy="223630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34DD7-6B5F-47FF-AA82-F18D61F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673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1CA7E-28A2-49B4-BB20-6AD3CF04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435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52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5252"/>
                </a:solidFill>
                <a:latin typeface="Aptos"/>
                <a:ea typeface="Aptos"/>
                <a:cs typeface="Aptos"/>
              </a:rPr>
              <a:t>So sánh trước/sau PA</a:t>
            </a:r>
          </a:p>
        </p:txBody>
      </p:sp>
    </p:spTree>
    <p:extLst>
      <p:ext uri="{BB962C8B-B14F-4D97-AF65-F5344CB8AC3E}">
        <p14:creationId xmlns:p14="http://schemas.microsoft.com/office/powerpoint/2010/main" val="15443500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CBD42-1E36-4AA6-ABAA-493A2CE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255F6-CBBD-4E6B-8CB7-5714440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2B960-D5B8-48EA-B1AF-5960C4B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BER 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881B-0DFA-41A0-B7CB-2A4ABE9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Lợi ích khoảng 3-4 dB cho thấy hình học học được có ý nghĩa thực nghiệm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4CE20-FFC8-498E-A09C-345025C4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Khi cùng mức BER, đường AE dịch trái so với 16-QAM + ZF, nghĩa là cần ít SNR hơn trong kịch bản PA/Rayleigh.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C1234-66F3-4F2E-B641-312A66C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6DDFE-FA22-4D57-94CE-DAEDE64E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BA5FB-B4C8-4ECC-B66E-E3AB8563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14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70f483d4e41c7"/>
          <a:stretch xmlns:a="http://schemas.openxmlformats.org/drawingml/2006/main"/>
        </p:blipFill>
        <p:spPr>
          <a:xfrm xmlns:a="http://schemas.openxmlformats.org/drawingml/2006/main">
            <a:off x="2154260" y="2324100"/>
            <a:ext cx="4206831" cy="2914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F64C-48BD-497A-AA7D-273713E9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A227-22D7-4B1B-93ED-BD138F2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~3-4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D1E4B-E1F6-41B7-9F9E-E8A67B4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E6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CFB6B-1DE2-42CB-A065-4D46475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Cần đọc kết quả trong phạm vi kênh mô phỏng của bài báo.</a:t>
            </a:r>
          </a:p>
        </p:txBody>
      </p:sp>
    </p:spTree>
    <p:extLst>
      <p:ext uri="{BB962C8B-B14F-4D97-AF65-F5344CB8AC3E}">
        <p14:creationId xmlns:p14="http://schemas.microsoft.com/office/powerpoint/2010/main" val="142126249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9DAA3-1121-4D80-ACD8-FCFD71EA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705AC-4FD4-4A2A-86C1-DCD710D7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BC649-588F-4E98-95CA-BD6A04E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Scenario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560E-5ACF-48FF-9ED8-2465A2C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Multi-symbol AE biến CFO thành bài toán học động học 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D0298-F563-40D4-8564-DF72D048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CFO không được xử lý như nhiễu độc lập; mạng quan sát chuỗi symbol để học xu hướng quay pha.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669CB-3A82-4803-AD0B-EB4DE53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0DD50-611F-4C5E-8763-FB2FEBA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ca4a81bac4ae7"/>
          <a:stretch xmlns:a="http://schemas.openxmlformats.org/drawingml/2006/main"/>
        </p:blipFill>
        <p:spPr>
          <a:xfrm xmlns:a="http://schemas.openxmlformats.org/drawingml/2006/main">
            <a:off x="819150" y="2181589"/>
            <a:ext cx="5715000" cy="312347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BEC32-E098-4CBF-9EA8-589FD55D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B2455-F2A4-4805-A101-9FB7485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1. Cửa sổ symbol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A2EAD-7D19-4301-944D-B51ACCF0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29A88-FA45-4755-9361-5A5FBEA3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575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2. Đặc trưng thời gian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A9A09-53E6-491C-B450-93907E88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185AB-F517-40E9-A804-706B1C4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814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FF"/>
                </a:solidFill>
                <a:latin typeface="Aptos"/>
                <a:ea typeface="Aptos"/>
                <a:cs typeface="Aptos"/>
              </a:rPr>
              <a:t>3. Bù pha trong latent 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97D5E-3331-452A-BFCB-6AFB9CBD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C7C1F-E767-439A-9236-69C20A9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053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9A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9A6B"/>
                </a:solidFill>
                <a:latin typeface="Aptos"/>
                <a:ea typeface="Aptos"/>
                <a:cs typeface="Aptos"/>
              </a:rPr>
              <a:t>4. Soft decision</a:t>
            </a:r>
          </a:p>
        </p:txBody>
      </p:sp>
    </p:spTree>
    <p:extLst>
      <p:ext uri="{BB962C8B-B14F-4D97-AF65-F5344CB8AC3E}">
        <p14:creationId xmlns:p14="http://schemas.microsoft.com/office/powerpoint/2010/main" val="142357957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92D01-D94A-440B-B8E0-0643530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E0760-3AE0-44C0-BAF5-FD62F77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84F4A-4230-4CD3-9213-1281656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BER S2 | CFO = 0.005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66801-D21F-4483-9596-54FE6C5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Khi CFO nhỏ, AE vẫn tận dụng tương quan thời gian để giảm 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79C5E-3530-400D-8C45-7C80DF66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Lợi ích chưa chỉ đến từ độ phức tạp mạng, mà từ việc mô hình quan sát đúng cấu trúc có nhớ của sai lệch pha.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E4FA7-F9C1-4E7D-B34C-7953DEE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E98BA-4440-47A9-AB3B-ACE3CFB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8F4EE-F663-40AF-A4CA-51C7E8D0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14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ede997530473a"/>
          <a:stretch xmlns:a="http://schemas.openxmlformats.org/drawingml/2006/main"/>
        </p:blipFill>
        <p:spPr>
          <a:xfrm xmlns:a="http://schemas.openxmlformats.org/drawingml/2006/main">
            <a:off x="2136747" y="2324100"/>
            <a:ext cx="4241857" cy="2914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E4132-BEC4-4401-8361-203C7659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0A612-AE6B-4344-9BF7-B996F5E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CFO=0.005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1AF64-1172-4A74-94CF-B69BF354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E6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913C8-A6BC-4F32-8F36-11900D7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Đường 16-QAM suy giảm do không bù tốt pha tích lũy.</a:t>
            </a:r>
          </a:p>
        </p:txBody>
      </p:sp>
    </p:spTree>
    <p:extLst>
      <p:ext uri="{BB962C8B-B14F-4D97-AF65-F5344CB8AC3E}">
        <p14:creationId xmlns:p14="http://schemas.microsoft.com/office/powerpoint/2010/main" val="1612426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AE562-1D35-43FD-8FF9-8F1D3E90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0BB6-EA29-4D59-8C26-7FBFF80A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2B94-C00B-4C3C-8D10-C11D523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BER S2 | CFO = 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FB7DA-7B0B-49D1-AA36-41359CD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Khi CFO tăng, lợi thế của multi-symbol AE trở nên rõ hơn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6CB38-906D-42A2-8B16-85D15E5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Kịch bản CFO lớn nhấn mạnh vai trò của ngữ cảnh thời gian; bộ thu truyền thống mất ổn định nhanh hơn.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E34D8-BD19-437D-B581-B996F93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99952-7CEA-41CF-AD1F-F7BF74F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68A9E-70DE-4ABA-AC71-932E1ED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14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6dd2dd037401f"/>
          <a:stretch xmlns:a="http://schemas.openxmlformats.org/drawingml/2006/main"/>
        </p:blipFill>
        <p:spPr>
          <a:xfrm xmlns:a="http://schemas.openxmlformats.org/drawingml/2006/main">
            <a:off x="2152330" y="2324100"/>
            <a:ext cx="4210690" cy="2914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03B80-F0BF-4A76-8845-7FB45E98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FE3EC-F7CF-45F9-AA7F-EE3E9E8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~5-8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6DCEE-2362-409C-BC47-F33BD9B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E6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89AF0-E8D8-4D92-986C-D48A2B6C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Kết quả ủng hộ giả thuyết học bù CFO mù.</a:t>
            </a:r>
          </a:p>
        </p:txBody>
      </p:sp>
    </p:spTree>
    <p:extLst>
      <p:ext uri="{BB962C8B-B14F-4D97-AF65-F5344CB8AC3E}">
        <p14:creationId xmlns:p14="http://schemas.microsoft.com/office/powerpoint/2010/main" val="184429449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C04349-C6AF-421C-B5CE-A5810BC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DCCE7-FFC0-4320-B2C1-F3F0B00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612AF-03CA-4255-8AD4-BDD9C6C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Scenario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10AD5-EDFF-4F40-B575-3AC3F975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Neural FEC mở rộng điều chế AE sang mã hóa kênh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B21D0-77E6-4C8A-BE62-63689BA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Thay vì ghép mã kênh và điều chế thành hai tầng cứng, mô hình học ánh xạ k bit thành N symbol phức.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7F8B6-0BE3-43D2-B854-1F66D1B3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7B668-1CCF-4844-9C52-23F94FAB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CFE1D-3368-49C9-9420-1BB31152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723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b6c4ceef64d9e"/>
          <a:stretch xmlns:a="http://schemas.openxmlformats.org/drawingml/2006/main"/>
        </p:blipFill>
        <p:spPr>
          <a:xfrm xmlns:a="http://schemas.openxmlformats.org/drawingml/2006/main">
            <a:off x="2060020" y="2381250"/>
            <a:ext cx="454771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D8A5A-4705-422E-9FC8-1A844525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87854-2D48-4670-A8A7-AC979B7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 = k/(2N)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30FD3-7485-4ECA-8947-8718CBC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Thông điệp phân tích: lợi ích BER đến từ học đồng thời độ dư mã hóa, hình học symbol và luật giải mã.</a:t>
            </a:r>
          </a:p>
        </p:txBody>
      </p:sp>
    </p:spTree>
    <p:extLst>
      <p:ext uri="{BB962C8B-B14F-4D97-AF65-F5344CB8AC3E}">
        <p14:creationId xmlns:p14="http://schemas.microsoft.com/office/powerpoint/2010/main" val="210340203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4E7FC-670D-4B8B-A751-DD9362E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35CF0-7BBA-4FEE-AFC6-031E6517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A1F41-3C3F-4593-8BE1-C3763135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Liên kết với BICM-ID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F9EF1-C162-4587-8862-E7F19BAF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Đầu ra xác suất của AE có thể chuyển sang LLR mềm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979E-F288-48FD-8669-059FF229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Đây là điểm quan trọng cho nghiên cứu tiếp theo: AE modulation không nhất thiết tách rời LDPC/Turbo/BICM-ID.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8D20D-2B52-499D-BE58-680A300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BD13-1B87-4966-971D-20D6638A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380D-35C8-495B-AFD2-1A4A5CE4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00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C65CD-29EA-48AA-86B3-84151DEE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973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L(bi)=ln [Σm:bi=1 P(sm|y) / Σm:bi=0 P(sm|y)]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27F36-1A6A-45C7-A628-071B80DD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4B86A-47FD-4CC2-8ADA-722D656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24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Softmax p(m|y)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2B7C5-3A57-49AA-8A7B-33E33D0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DFD42-5074-4666-9B00-3CFAE5D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62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199A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68004-F8CE-47C6-B1B8-58E6EA36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F02D4-B700-4E20-9976-613E2D4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24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Bit marginalization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BFB1F-142F-4F76-B066-DF2CD0DF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0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1BF34-970C-48AC-9094-0432530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962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199A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E200A-A0E9-4C9A-9FE1-59A1DBB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FF718-B25B-41A6-BB2F-3B4A5A6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3F2A1-705E-4D88-AC89-16FDF26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4E800-F5E0-4163-8622-40CC9A2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62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99A6B"/>
          </a:solidFill>
          <a:ln xmlns:a="http://schemas.openxmlformats.org/drawingml/2006/main" w="0">
            <a:solidFill>
              <a:srgbClr val="199A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305E5-C2FC-4C26-AEBC-25C916FD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3725A-3FA5-4FE0-8D7C-0B637AA5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LDPC/Turbo/BICM-ID</a:t>
            </a:r>
          </a:p>
        </p:txBody>
      </p:sp>
    </p:spTree>
    <p:extLst>
      <p:ext uri="{BB962C8B-B14F-4D97-AF65-F5344CB8AC3E}">
        <p14:creationId xmlns:p14="http://schemas.microsoft.com/office/powerpoint/2010/main" val="14900798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7EFBE-DCA3-4717-8227-DE70C5D1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9CCDE-73F2-42BF-B2DF-D82CBBD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B218F-E8BB-4F80-AB69-3C3C9FA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A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A7B6"/>
                </a:solidFill>
                <a:latin typeface="Aptos"/>
                <a:ea typeface="Aptos"/>
                <a:cs typeface="Aptos"/>
              </a:rPr>
              <a:t>Tổng hợp học thuật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CEEFE-68A6-4685-8DE3-535C8487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Kết quả cho thấy học sâu hữu ích nhất khi gắn với cấu trúc vật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400CC-1A81-478B-9F41-E987AE4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Publication_2 | AE-based modulation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23E76-D29B-4CC2-9E15-4993A8E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6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22A70-C3D4-489C-9611-C625B46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1ED15-CCAC-49E7-B203-D37F175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 lệch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3E39-F011-4622-9BE3-08AE140B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F089D-E115-48C9-910B-4840E01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383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Cơ chế học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C2097-258D-416C-99F9-81FDE545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E464A-039A-4E01-B5AE-6C0DBD70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Ý nghĩa kết quả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D383D-7457-41A6-A3FB-B2A1D49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A6482-F2FA-45BD-AD3B-4C08A489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383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Giới hạn cần kiểm 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920CE-8B43-4782-8F78-D1772EDB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12F03-3EAA-4E63-BF30-2D24C6E0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1C567-EABC-4452-BDF1-DC50E1D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897AA-A0B4-43A1-9396-E82D6B4E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hình học chòm sao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310F0-CEB9-4CC7-AE28-6C83448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52700"/>
            <a:ext cx="304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D8EE7-C5E7-446D-9E6D-FF53FE25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717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Giảm tác động nén biên độ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C83F3-44A3-48D0-B574-67748EE3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52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02FD4-658B-4E46-89AB-8061AE4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7177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Cần kiểm tra PA thực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8152E-B70C-4519-94E4-FA731346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EE55B-59BC-4F2F-A016-3DE7002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F1D89-2B53-45FA-9AD1-A26977A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1B470-7E1D-4295-A08E-1AE3D354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52825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chuỗi pha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0D24E-0F83-4326-B33B-588495A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304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8CC56-553B-43E4-8D70-2EDFAAF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5282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Bù CFO mù, không PLL/pilot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17E69-7B95-46D2-947C-61EE576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3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B365F-FD30-4A16-A07A-3EB32B7F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5282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Cần kiểm tra CFO biến thiên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008D6-CB6D-4910-8FD4-641BBD3C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14C199-6CA7-4715-AA2C-3C4B9C4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AADF6-E372-4FA2-B6D8-C582803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148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98E85-98A7-45BE-82EB-ADFB5D8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33875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Học dư thừa mã hóa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90238-3AEC-4441-B290-20D7A19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304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B39E4-AD1D-45DA-8E59-48BDA07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338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BER thấp ở SNR thấp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C1689-37A2-4512-8431-477F93DA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14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EAA9C1-4679-4DC2-8AF3-5BF93849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3387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Cần tích hợp decoder chuẩn</a:t>
            </a:r>
          </a:p>
        </p:txBody>
      </p:sp>
    </p:spTree>
    <p:extLst>
      <p:ext uri="{BB962C8B-B14F-4D97-AF65-F5344CB8AC3E}">
        <p14:creationId xmlns:p14="http://schemas.microsoft.com/office/powerpoint/2010/main" val="16914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2026-05-13T09:22:07.9210000Z</dcterms:created>
  <dcterms:modified xsi:type="dcterms:W3CDTF">2026-05-13T09:22:07.9210000Z</dcterms:modified>
</coreProperties>
</file>